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7"/>
  </p:notesMasterIdLst>
  <p:sldIdLst>
    <p:sldId id="256" r:id="rId4"/>
    <p:sldId id="259" r:id="rId5"/>
    <p:sldId id="260" r:id="rId6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幸全" initials="幸全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image" Target="../media/image3.jpeg"/><Relationship Id="rId2" Type="http://schemas.openxmlformats.org/officeDocument/2006/relationships/tags" Target="../tags/tag15.xml"/><Relationship Id="rId11" Type="http://schemas.openxmlformats.org/officeDocument/2006/relationships/tags" Target="../tags/tag22.xml"/><Relationship Id="rId10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image" Target="../media/image6.png"/><Relationship Id="rId4" Type="http://schemas.openxmlformats.org/officeDocument/2006/relationships/tags" Target="../tags/tag24.xml"/><Relationship Id="rId3" Type="http://schemas.openxmlformats.org/officeDocument/2006/relationships/image" Target="../media/image5.jpeg"/><Relationship Id="rId2" Type="http://schemas.openxmlformats.org/officeDocument/2006/relationships/tags" Target="../tags/tag23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0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image" Target="../media/image2.png"/><Relationship Id="rId4" Type="http://schemas.openxmlformats.org/officeDocument/2006/relationships/tags" Target="../tags/tag66.xml"/><Relationship Id="rId3" Type="http://schemas.openxmlformats.org/officeDocument/2006/relationships/image" Target="../media/image1.jpeg"/><Relationship Id="rId2" Type="http://schemas.openxmlformats.org/officeDocument/2006/relationships/tags" Target="../tags/tag65.xml"/><Relationship Id="rId10" Type="http://schemas.openxmlformats.org/officeDocument/2006/relationships/tags" Target="../tags/tag7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ͼƬ1-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lum contrast="6000"/>
          </a:blip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1"/>
            <a:ext cx="12192000" cy="6855858"/>
          </a:xfrm>
          <a:prstGeom prst="rect">
            <a:avLst/>
          </a:prstGeom>
        </p:spPr>
      </p:pic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6"/>
            </p:custDataLst>
          </p:nvPr>
        </p:nvSpPr>
        <p:spPr>
          <a:xfrm>
            <a:off x="907448" y="4367840"/>
            <a:ext cx="2034000" cy="468000"/>
          </a:xfrm>
          <a:prstGeom prst="roundRect">
            <a:avLst>
              <a:gd name="adj" fmla="val 25971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0" i="0" u="none" strike="noStrike" kern="1200" cap="none" spc="150" normalizeH="0" baseline="0" noProof="1" dirty="0">
                <a:solidFill>
                  <a:srgbClr val="FFFFFF"/>
                </a:solidFill>
                <a:effectLst>
                  <a:outerShdw blurRad="50800" dist="50800" dir="5400000" algn="ctr" rotWithShape="0">
                    <a:schemeClr val="accent2">
                      <a:alpha val="40000"/>
                    </a:schemeClr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pPr lvl="0" algn="ctr"/>
            <a:r>
              <a:rPr dirty="0">
                <a:sym typeface="+mn-ea"/>
              </a:rPr>
              <a:t>署名</a:t>
            </a:r>
            <a:endParaRPr dirty="0">
              <a:sym typeface="+mn-ea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907415" y="1764655"/>
            <a:ext cx="6674452" cy="101633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000" b="0" i="0" u="none" strike="noStrike" kern="1200" cap="none" spc="300" normalizeH="0" baseline="0" noProof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pPr lvl="0" algn="l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907415" y="2781300"/>
            <a:ext cx="6674485" cy="14770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300" normalizeH="0" baseline="0" noProof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>
            <p:custDataLst>
              <p:tags r:id="rId2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2"/>
            <p:custDataLst>
              <p:tags r:id="rId3"/>
            </p:custDataLst>
          </p:nvPr>
        </p:nvSpPr>
        <p:spPr>
          <a:xfrm>
            <a:off x="695960" y="1252800"/>
            <a:ext cx="10800000" cy="49968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rgbClr val="344554"/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rgbClr val="344554"/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rgbClr val="344554"/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rgbClr val="344554"/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rgbClr val="344554"/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章节页0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9525"/>
            <a:ext cx="12192635" cy="6856730"/>
          </a:xfrm>
          <a:prstGeom prst="rect">
            <a:avLst/>
          </a:prstGeom>
        </p:spPr>
      </p:pic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 rot="10800000" flipV="1">
            <a:off x="0" y="10160"/>
            <a:ext cx="12192635" cy="68478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4000">
                <a:schemeClr val="accent1">
                  <a:alpha val="10000"/>
                </a:schemeClr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Heavy" panose="00000A00000000000000" charset="-122"/>
            </a:endParaRPr>
          </a:p>
        </p:txBody>
      </p:sp>
      <p:sp>
        <p:nvSpPr>
          <p:cNvPr id="8" name="平行四边形 7"/>
          <p:cNvSpPr/>
          <p:nvPr>
            <p:custDataLst>
              <p:tags r:id="rId5"/>
            </p:custDataLst>
          </p:nvPr>
        </p:nvSpPr>
        <p:spPr>
          <a:xfrm>
            <a:off x="585992" y="5741854"/>
            <a:ext cx="4345547" cy="249280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5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95"/>
            <a:ext cx="12192000" cy="6846570"/>
          </a:xfrm>
          <a:prstGeom prst="rect">
            <a:avLst/>
          </a:prstGeom>
        </p:spPr>
      </p:pic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11"/>
            </p:custDataLst>
          </p:nvPr>
        </p:nvSpPr>
        <p:spPr>
          <a:xfrm>
            <a:off x="729762" y="4968875"/>
            <a:ext cx="1725245" cy="13176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300" normalizeH="0" baseline="0" noProof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A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7715" cy="687133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1270"/>
            <a:ext cx="12191365" cy="6856095"/>
          </a:xfrm>
          <a:prstGeom prst="rect">
            <a:avLst/>
          </a:prstGeom>
        </p:spPr>
      </p:pic>
      <p:sp>
        <p:nvSpPr>
          <p:cNvPr id="13" name="平行四边形 12"/>
          <p:cNvSpPr/>
          <p:nvPr>
            <p:custDataLst>
              <p:tags r:id="rId6"/>
            </p:custDataLst>
          </p:nvPr>
        </p:nvSpPr>
        <p:spPr>
          <a:xfrm>
            <a:off x="6501112" y="3700159"/>
            <a:ext cx="4673600" cy="23304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5000"/>
                </a:schemeClr>
              </a:gs>
              <a:gs pos="23000">
                <a:schemeClr val="accent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9605355" y="4452317"/>
            <a:ext cx="1540800" cy="424800"/>
          </a:xfrm>
          <a:prstGeom prst="roundRect">
            <a:avLst>
              <a:gd name="adj" fmla="val 18909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1400" b="0" i="0" u="none" strike="noStrike" kern="1200" cap="none" spc="150" normalizeH="0" baseline="0" noProof="1">
                <a:solidFill>
                  <a:srgbClr val="FFFFFF"/>
                </a:solidFill>
                <a:effectLst>
                  <a:outerShdw blurRad="50800" dist="50800" dir="5400000" algn="ctr" rotWithShape="0">
                    <a:schemeClr val="accent2">
                      <a:alpha val="40000"/>
                    </a:schemeClr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编辑节编号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6096000" y="1985038"/>
            <a:ext cx="5079968" cy="1869371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400" b="0" i="0" u="none" strike="noStrike" kern="1200" cap="none" spc="300" normalizeH="0" baseline="0" noProof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pPr lvl="0" algn="r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平行四边形 10"/>
          <p:cNvSpPr/>
          <p:nvPr>
            <p:custDataLst>
              <p:tags r:id="rId2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正文"/>
          <p:cNvSpPr txBox="1">
            <a:spLocks noGrp="1"/>
          </p:cNvSpPr>
          <p:nvPr>
            <p:ph idx="3"/>
            <p:custDataLst>
              <p:tags r:id="rId3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/>
            <p:custDataLst>
              <p:tags r:id="rId4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平行四边形 14"/>
          <p:cNvSpPr/>
          <p:nvPr>
            <p:custDataLst>
              <p:tags r:id="rId2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3"/>
            </p:custDataLst>
          </p:nvPr>
        </p:nvSpPr>
        <p:spPr>
          <a:xfrm>
            <a:off x="60840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2">
                    <a:lumMod val="25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4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5"/>
            </p:custDataLst>
          </p:nvPr>
        </p:nvSpPr>
        <p:spPr>
          <a:xfrm>
            <a:off x="62352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正文"/>
          <p:cNvSpPr txBox="1">
            <a:spLocks noGrp="1"/>
          </p:cNvSpPr>
          <p:nvPr>
            <p:ph idx="2"/>
            <p:custDataLst>
              <p:tags r:id="rId6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7"/>
            </p:custDataLst>
          </p:nvPr>
        </p:nvSpPr>
        <p:spPr>
          <a:xfrm>
            <a:off x="6084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/>
          <p:cNvSpPr/>
          <p:nvPr>
            <p:custDataLst>
              <p:tags r:id="rId2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446399"/>
            <a:ext cx="10801985" cy="573151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平行四边形 7"/>
          <p:cNvSpPr/>
          <p:nvPr>
            <p:custDataLst>
              <p:tags r:id="rId2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副标题"/>
          <p:cNvSpPr txBox="1"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lvl="0" algn="l"/>
            <a:r>
              <a:rPr lang="en-US" altLang="zh-CN">
                <a:sym typeface="+mn-ea"/>
              </a:rPr>
              <a:t>    </a:t>
            </a:r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ͼƬ1-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lum contrast="6000"/>
          </a:blip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1"/>
            <a:ext cx="12192000" cy="6855858"/>
          </a:xfrm>
          <a:prstGeom prst="rect">
            <a:avLst/>
          </a:prstGeom>
        </p:spPr>
      </p:pic>
      <p:sp>
        <p:nvSpPr>
          <p:cNvPr id="8" name="署名"/>
          <p:cNvSpPr txBox="1">
            <a:spLocks noGrp="1"/>
          </p:cNvSpPr>
          <p:nvPr>
            <p:ph type="body" idx="2" hasCustomPrompt="1"/>
            <p:custDataLst>
              <p:tags r:id="rId6"/>
            </p:custDataLst>
          </p:nvPr>
        </p:nvSpPr>
        <p:spPr>
          <a:xfrm>
            <a:off x="907448" y="4113702"/>
            <a:ext cx="2034000" cy="468000"/>
          </a:xfrm>
          <a:prstGeom prst="roundRect">
            <a:avLst>
              <a:gd name="adj" fmla="val 25971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0" i="0" u="none" strike="noStrike" kern="1200" cap="none" spc="150" normalizeH="0" baseline="0" noProof="1" dirty="0">
                <a:solidFill>
                  <a:srgbClr val="FFFFFF"/>
                </a:solidFill>
                <a:effectLst>
                  <a:outerShdw blurRad="50800" dist="50800" dir="5400000" algn="ctr" rotWithShape="0">
                    <a:schemeClr val="accent2">
                      <a:alpha val="40000"/>
                    </a:schemeClr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署名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907448" y="1809751"/>
            <a:ext cx="6011908" cy="205921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300" normalizeH="0" baseline="0" noProof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单击编辑标题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3" Type="http://schemas.openxmlformats.org/officeDocument/2006/relationships/theme" Target="../theme/theme2.xml"/><Relationship Id="rId22" Type="http://schemas.openxmlformats.org/officeDocument/2006/relationships/tags" Target="../tags/tag81.xml"/><Relationship Id="rId21" Type="http://schemas.openxmlformats.org/officeDocument/2006/relationships/tags" Target="../tags/tag80.xml"/><Relationship Id="rId20" Type="http://schemas.openxmlformats.org/officeDocument/2006/relationships/tags" Target="../tags/tag79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78.xml"/><Relationship Id="rId18" Type="http://schemas.openxmlformats.org/officeDocument/2006/relationships/tags" Target="../tags/tag77.xml"/><Relationship Id="rId17" Type="http://schemas.openxmlformats.org/officeDocument/2006/relationships/tags" Target="../tags/tag76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image" Target="../media/image5.jpeg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12"/>
            </p:custDataLst>
          </p:nvPr>
        </p:nvSpPr>
        <p:spPr>
          <a:xfrm>
            <a:off x="0" y="635"/>
            <a:ext cx="12191365" cy="687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A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alphaModFix amt="15000"/>
          </a:blip>
          <a:stretch>
            <a:fillRect/>
          </a:stretch>
        </p:blipFill>
        <p:spPr>
          <a:xfrm flipH="1">
            <a:off x="0" y="635"/>
            <a:ext cx="12192000" cy="6871335"/>
          </a:xfrm>
          <a:prstGeom prst="rect">
            <a:avLst/>
          </a:prstGeom>
        </p:spPr>
      </p:pic>
      <p:sp>
        <p:nvSpPr>
          <p:cNvPr id="7" name="平行四边形 6"/>
          <p:cNvSpPr/>
          <p:nvPr>
            <p:custDataLst>
              <p:tags r:id="rId15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Tx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R="0" lvl="1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tabLst>
                <a:tab pos="1609725" algn="l"/>
              </a:tabLst>
            </a:pPr>
            <a:r>
              <a:rPr lang="zh-CN" altLang="en-US" dirty="0"/>
              <a:t>二级</a:t>
            </a:r>
            <a:endParaRPr lang="zh-CN" altLang="en-US" dirty="0"/>
          </a:p>
          <a:p>
            <a:pPr marR="0" lvl="2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三级</a:t>
            </a:r>
            <a:endParaRPr lang="zh-CN" altLang="en-US" dirty="0"/>
          </a:p>
          <a:p>
            <a:pPr marR="0" lvl="3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四级</a:t>
            </a:r>
            <a:endParaRPr lang="zh-CN" altLang="en-US" dirty="0"/>
          </a:p>
          <a:p>
            <a:pPr marR="0" lvl="4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dirty="0" smtClean="0">
          <a:ln>
            <a:noFill/>
            <a:prstDash val="sysDot"/>
          </a:ln>
          <a:solidFill>
            <a:srgbClr val="293642"/>
          </a:solidFill>
          <a:uFillTx/>
          <a:latin typeface="+mj-ea"/>
          <a:ea typeface="+mj-ea"/>
          <a:cs typeface="+mn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zh-CN" altLang="en-US" sz="1800" b="0" i="0" u="none" strike="noStrike" kern="1200" cap="none" spc="150" normalizeH="0" baseline="0" smtClean="0">
          <a:ln>
            <a:noFill/>
            <a:prstDash val="sysDot"/>
          </a:ln>
          <a:solidFill>
            <a:srgbClr val="293642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6" Type="http://schemas.openxmlformats.org/officeDocument/2006/relationships/slideLayout" Target="../slideLayouts/slideLayout14.xml"/><Relationship Id="rId15" Type="http://schemas.openxmlformats.org/officeDocument/2006/relationships/tags" Target="../tags/tag99.xml"/><Relationship Id="rId14" Type="http://schemas.openxmlformats.org/officeDocument/2006/relationships/tags" Target="../tags/tag98.xml"/><Relationship Id="rId13" Type="http://schemas.openxmlformats.org/officeDocument/2006/relationships/tags" Target="../tags/tag97.xml"/><Relationship Id="rId12" Type="http://schemas.openxmlformats.org/officeDocument/2006/relationships/tags" Target="../tags/tag96.xml"/><Relationship Id="rId11" Type="http://schemas.openxmlformats.org/officeDocument/2006/relationships/tags" Target="../tags/tag95.xml"/><Relationship Id="rId10" Type="http://schemas.openxmlformats.org/officeDocument/2006/relationships/tags" Target="../tags/tag94.xml"/><Relationship Id="rId1" Type="http://schemas.openxmlformats.org/officeDocument/2006/relationships/tags" Target="../tags/tag85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03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07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占位符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07415" y="1764655"/>
            <a:ext cx="6674452" cy="101633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0" tIns="0" rIns="0" bIns="0" rtlCol="0" anchor="b">
            <a:normAutofit fontScale="70000"/>
          </a:bodyPr>
          <a:lstStyle>
            <a:lvl1pPr marL="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40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bg2">
                    <a:lumMod val="10000"/>
                  </a:schemeClr>
                </a:solidFill>
                <a:uFillTx/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kumimoji="0" lang="zh-CN" altLang="en-US" sz="1600" b="0" i="0" u="none" strike="noStrike" kern="1200" cap="none" spc="150" normalizeH="0" baseline="0" smtClean="0">
                <a:solidFill>
                  <a:srgbClr val="293642"/>
                </a:solidFill>
                <a:uFillTx/>
                <a:latin typeface="+mn-ea"/>
                <a:ea typeface="+mn-ea"/>
                <a:cs typeface="MiSans Heavy" panose="00000A00000000000000" charset="-122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smtClean="0">
                <a:solidFill>
                  <a:srgbClr val="293642"/>
                </a:solidFill>
                <a:uFillTx/>
                <a:latin typeface="+mn-ea"/>
                <a:ea typeface="+mn-ea"/>
                <a:cs typeface="MiSans Heavy" panose="00000A00000000000000" charset="-122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smtClean="0">
                <a:solidFill>
                  <a:srgbClr val="293642"/>
                </a:solidFill>
                <a:uFillTx/>
                <a:latin typeface="+mn-ea"/>
                <a:ea typeface="+mn-ea"/>
                <a:cs typeface="MiSans Heavy" panose="00000A00000000000000" charset="-122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smtClean="0">
                <a:solidFill>
                  <a:srgbClr val="293642"/>
                </a:solidFill>
                <a:uFillTx/>
                <a:latin typeface="+mn-ea"/>
                <a:ea typeface="+mn-ea"/>
                <a:cs typeface="MiSans Heavy" panose="00000A00000000000000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</a:pPr>
            <a:endParaRPr lang="zh-CN" altLang="en-US" sz="4000">
              <a:solidFill>
                <a:schemeClr val="tx1"/>
              </a:solidFill>
            </a:endParaRPr>
          </a:p>
          <a:p>
            <a:pPr mar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</a:pPr>
            <a:r>
              <a:rPr lang="zh-CN" altLang="en-US" sz="4000">
                <a:solidFill>
                  <a:schemeClr val="tx1"/>
                </a:solidFill>
              </a:rPr>
              <a:t>七年级下学期期末数学学科家长会</a:t>
            </a:r>
            <a:endParaRPr lang="zh-CN" altLang="en-US" sz="4000">
              <a:solidFill>
                <a:schemeClr val="tx1"/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/>
              <a:t>深耕基础，稳筑思维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cxnSp>
        <p:nvCxnSpPr>
          <p:cNvPr id="134" name="直接连接符 133"/>
          <p:cNvCxnSpPr/>
          <p:nvPr>
            <p:custDataLst>
              <p:tags r:id="rId2"/>
            </p:custDataLst>
          </p:nvPr>
        </p:nvCxnSpPr>
        <p:spPr>
          <a:xfrm>
            <a:off x="2223135" y="9525"/>
            <a:ext cx="0" cy="3914775"/>
          </a:xfrm>
          <a:prstGeom prst="line">
            <a:avLst/>
          </a:prstGeom>
          <a:ln w="12700">
            <a:solidFill>
              <a:schemeClr val="accent2">
                <a:lumMod val="75000"/>
                <a:alpha val="3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序号"/>
          <p:cNvSpPr txBox="1"/>
          <p:nvPr>
            <p:custDataLst>
              <p:tags r:id="rId3"/>
            </p:custDataLst>
          </p:nvPr>
        </p:nvSpPr>
        <p:spPr>
          <a:xfrm>
            <a:off x="2111375" y="2615565"/>
            <a:ext cx="1522730" cy="1362710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rmAutofit/>
          </a:bodyPr>
          <a:lstStyle/>
          <a:p>
            <a:pPr algn="l"/>
            <a:r>
              <a:rPr lang="en-US" sz="7200" spc="-100" dirty="0">
                <a:gradFill>
                  <a:gsLst>
                    <a:gs pos="16000">
                      <a:schemeClr val="accent1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16200000" scaled="0"/>
                </a:gradFill>
                <a:uFillTx/>
                <a:latin typeface="+mj-ea"/>
                <a:ea typeface="+mj-ea"/>
                <a:cs typeface="MiSans Normal" panose="00000500000000000000" charset="-122"/>
              </a:rPr>
              <a:t>01</a:t>
            </a:r>
            <a:endParaRPr lang="en-US" sz="7200" spc="-100" dirty="0">
              <a:gradFill>
                <a:gsLst>
                  <a:gs pos="16000">
                    <a:schemeClr val="accent1">
                      <a:alpha val="0"/>
                    </a:schemeClr>
                  </a:gs>
                  <a:gs pos="100000">
                    <a:schemeClr val="accent2"/>
                  </a:gs>
                </a:gsLst>
                <a:lin ang="16200000" scaled="0"/>
              </a:gradFill>
              <a:uFillTx/>
              <a:latin typeface="+mj-ea"/>
              <a:ea typeface="+mj-ea"/>
              <a:cs typeface="MiSans Normal" panose="00000500000000000000" charset="-122"/>
            </a:endParaRPr>
          </a:p>
        </p:txBody>
      </p:sp>
      <p:sp>
        <p:nvSpPr>
          <p:cNvPr id="133" name="标题"/>
          <p:cNvSpPr txBox="1"/>
          <p:nvPr>
            <p:custDataLst>
              <p:tags r:id="rId4"/>
            </p:custDataLst>
          </p:nvPr>
        </p:nvSpPr>
        <p:spPr>
          <a:xfrm>
            <a:off x="2290445" y="3654401"/>
            <a:ext cx="2038985" cy="15278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l"/>
            <a:r>
              <a:rPr lang="zh-CN" altLang="en-US" sz="2200" dirty="0">
                <a:solidFill>
                  <a:schemeClr val="bg2">
                    <a:lumMod val="2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</a:rPr>
              <a:t>本学期工作</a:t>
            </a:r>
            <a:r>
              <a:rPr lang="zh-CN" altLang="en-US" sz="2200" dirty="0">
                <a:solidFill>
                  <a:schemeClr val="bg2">
                    <a:lumMod val="2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</a:rPr>
              <a:t>复盘</a:t>
            </a:r>
            <a:endParaRPr lang="zh-CN" altLang="en-US" sz="2200" dirty="0">
              <a:solidFill>
                <a:schemeClr val="bg2">
                  <a:lumMod val="25000"/>
                </a:schemeClr>
              </a:solidFill>
              <a:uFillTx/>
              <a:latin typeface="+mj-ea"/>
              <a:ea typeface="+mj-ea"/>
              <a:cs typeface="MiSans Normal" panose="00000500000000000000" charset="-122"/>
            </a:endParaRPr>
          </a:p>
        </p:txBody>
      </p:sp>
      <p:cxnSp>
        <p:nvCxnSpPr>
          <p:cNvPr id="24" name="直接连接符 23"/>
          <p:cNvCxnSpPr/>
          <p:nvPr>
            <p:custDataLst>
              <p:tags r:id="rId5"/>
            </p:custDataLst>
          </p:nvPr>
        </p:nvCxnSpPr>
        <p:spPr>
          <a:xfrm>
            <a:off x="4672965" y="9525"/>
            <a:ext cx="0" cy="3105150"/>
          </a:xfrm>
          <a:prstGeom prst="line">
            <a:avLst/>
          </a:prstGeom>
          <a:ln w="12700">
            <a:solidFill>
              <a:schemeClr val="accent2">
                <a:lumMod val="75000"/>
                <a:alpha val="3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序号"/>
          <p:cNvSpPr txBox="1"/>
          <p:nvPr>
            <p:custDataLst>
              <p:tags r:id="rId6"/>
            </p:custDataLst>
          </p:nvPr>
        </p:nvSpPr>
        <p:spPr>
          <a:xfrm>
            <a:off x="4561205" y="1805940"/>
            <a:ext cx="1522730" cy="1362710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rmAutofit/>
          </a:bodyPr>
          <a:lstStyle/>
          <a:p>
            <a:pPr algn="l"/>
            <a:r>
              <a:rPr lang="en-US" sz="7200" spc="-100" dirty="0">
                <a:gradFill>
                  <a:gsLst>
                    <a:gs pos="16000">
                      <a:schemeClr val="accent1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16200000" scaled="0"/>
                </a:gradFill>
                <a:uFillTx/>
                <a:latin typeface="+mj-ea"/>
                <a:ea typeface="+mj-ea"/>
                <a:cs typeface="MiSans Normal" panose="00000500000000000000" charset="-122"/>
              </a:rPr>
              <a:t>02</a:t>
            </a:r>
            <a:endParaRPr lang="en-US" sz="7200" spc="-100" dirty="0">
              <a:gradFill>
                <a:gsLst>
                  <a:gs pos="16000">
                    <a:schemeClr val="accent1">
                      <a:alpha val="0"/>
                    </a:schemeClr>
                  </a:gs>
                  <a:gs pos="100000">
                    <a:schemeClr val="accent2"/>
                  </a:gs>
                </a:gsLst>
                <a:lin ang="16200000" scaled="0"/>
              </a:gradFill>
              <a:uFillTx/>
              <a:latin typeface="+mj-ea"/>
              <a:ea typeface="+mj-ea"/>
              <a:cs typeface="MiSans Normal" panose="00000500000000000000" charset="-122"/>
            </a:endParaRPr>
          </a:p>
        </p:txBody>
      </p:sp>
      <p:sp>
        <p:nvSpPr>
          <p:cNvPr id="26" name="标题"/>
          <p:cNvSpPr txBox="1"/>
          <p:nvPr>
            <p:custDataLst>
              <p:tags r:id="rId7"/>
            </p:custDataLst>
          </p:nvPr>
        </p:nvSpPr>
        <p:spPr>
          <a:xfrm>
            <a:off x="4740275" y="2844776"/>
            <a:ext cx="2038985" cy="15278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l"/>
            <a:r>
              <a:rPr lang="zh-CN" altLang="en-US" sz="2200" dirty="0">
                <a:solidFill>
                  <a:schemeClr val="bg2">
                    <a:lumMod val="2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</a:rPr>
              <a:t>初中数学学科核心</a:t>
            </a:r>
            <a:r>
              <a:rPr lang="zh-CN" altLang="en-US" sz="2200" dirty="0">
                <a:solidFill>
                  <a:schemeClr val="bg2">
                    <a:lumMod val="2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</a:rPr>
              <a:t>学习要求</a:t>
            </a:r>
            <a:endParaRPr lang="zh-CN" altLang="en-US" sz="2200" dirty="0">
              <a:solidFill>
                <a:schemeClr val="bg2">
                  <a:lumMod val="25000"/>
                </a:schemeClr>
              </a:solidFill>
              <a:uFillTx/>
              <a:latin typeface="+mj-ea"/>
              <a:ea typeface="+mj-ea"/>
              <a:cs typeface="MiSans Normal" panose="00000500000000000000" charset="-122"/>
            </a:endParaRPr>
          </a:p>
        </p:txBody>
      </p:sp>
      <p:cxnSp>
        <p:nvCxnSpPr>
          <p:cNvPr id="28" name="直接连接符 27"/>
          <p:cNvCxnSpPr/>
          <p:nvPr>
            <p:custDataLst>
              <p:tags r:id="rId8"/>
            </p:custDataLst>
          </p:nvPr>
        </p:nvCxnSpPr>
        <p:spPr>
          <a:xfrm>
            <a:off x="7122795" y="9525"/>
            <a:ext cx="0" cy="3914775"/>
          </a:xfrm>
          <a:prstGeom prst="line">
            <a:avLst/>
          </a:prstGeom>
          <a:ln w="12700">
            <a:solidFill>
              <a:schemeClr val="accent2">
                <a:lumMod val="75000"/>
                <a:alpha val="3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序号"/>
          <p:cNvSpPr txBox="1"/>
          <p:nvPr>
            <p:custDataLst>
              <p:tags r:id="rId9"/>
            </p:custDataLst>
          </p:nvPr>
        </p:nvSpPr>
        <p:spPr>
          <a:xfrm>
            <a:off x="7011035" y="2615565"/>
            <a:ext cx="1522730" cy="1362710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rmAutofit/>
          </a:bodyPr>
          <a:lstStyle/>
          <a:p>
            <a:pPr algn="l"/>
            <a:r>
              <a:rPr lang="en-US" sz="7200" spc="-100" dirty="0">
                <a:gradFill>
                  <a:gsLst>
                    <a:gs pos="16000">
                      <a:schemeClr val="accent1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16200000" scaled="0"/>
                </a:gradFill>
                <a:uFillTx/>
                <a:latin typeface="+mj-ea"/>
                <a:ea typeface="+mj-ea"/>
                <a:cs typeface="MiSans Normal" panose="00000500000000000000" charset="-122"/>
              </a:rPr>
              <a:t>03</a:t>
            </a:r>
            <a:endParaRPr lang="en-US" sz="7200" spc="-100" dirty="0">
              <a:gradFill>
                <a:gsLst>
                  <a:gs pos="16000">
                    <a:schemeClr val="accent1">
                      <a:alpha val="0"/>
                    </a:schemeClr>
                  </a:gs>
                  <a:gs pos="100000">
                    <a:schemeClr val="accent2"/>
                  </a:gs>
                </a:gsLst>
                <a:lin ang="16200000" scaled="0"/>
              </a:gradFill>
              <a:uFillTx/>
              <a:latin typeface="+mj-ea"/>
              <a:ea typeface="+mj-ea"/>
              <a:cs typeface="MiSans Normal" panose="00000500000000000000" charset="-122"/>
            </a:endParaRPr>
          </a:p>
        </p:txBody>
      </p:sp>
      <p:sp>
        <p:nvSpPr>
          <p:cNvPr id="32" name="标题"/>
          <p:cNvSpPr txBox="1"/>
          <p:nvPr>
            <p:custDataLst>
              <p:tags r:id="rId10"/>
            </p:custDataLst>
          </p:nvPr>
        </p:nvSpPr>
        <p:spPr>
          <a:xfrm>
            <a:off x="7190105" y="3654401"/>
            <a:ext cx="2038985" cy="15278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l"/>
            <a:r>
              <a:rPr lang="zh-CN" altLang="en-US" sz="2200" dirty="0">
                <a:solidFill>
                  <a:schemeClr val="bg2">
                    <a:lumMod val="2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</a:rPr>
              <a:t>本学期期末考试学情</a:t>
            </a:r>
            <a:r>
              <a:rPr lang="zh-CN" altLang="en-US" sz="2200" dirty="0">
                <a:solidFill>
                  <a:schemeClr val="bg2">
                    <a:lumMod val="2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</a:rPr>
              <a:t>分析</a:t>
            </a:r>
            <a:endParaRPr lang="zh-CN" altLang="en-US" sz="2200" dirty="0">
              <a:solidFill>
                <a:schemeClr val="bg2">
                  <a:lumMod val="25000"/>
                </a:schemeClr>
              </a:solidFill>
              <a:uFillTx/>
              <a:latin typeface="+mj-ea"/>
              <a:ea typeface="+mj-ea"/>
              <a:cs typeface="MiSans Normal" panose="00000500000000000000" charset="-122"/>
            </a:endParaRPr>
          </a:p>
        </p:txBody>
      </p:sp>
      <p:cxnSp>
        <p:nvCxnSpPr>
          <p:cNvPr id="34" name="直接连接符 33"/>
          <p:cNvCxnSpPr/>
          <p:nvPr>
            <p:custDataLst>
              <p:tags r:id="rId11"/>
            </p:custDataLst>
          </p:nvPr>
        </p:nvCxnSpPr>
        <p:spPr>
          <a:xfrm>
            <a:off x="9572625" y="9525"/>
            <a:ext cx="0" cy="3105150"/>
          </a:xfrm>
          <a:prstGeom prst="line">
            <a:avLst/>
          </a:prstGeom>
          <a:ln w="12700">
            <a:solidFill>
              <a:schemeClr val="accent2">
                <a:lumMod val="75000"/>
                <a:alpha val="3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序号"/>
          <p:cNvSpPr txBox="1"/>
          <p:nvPr>
            <p:custDataLst>
              <p:tags r:id="rId12"/>
            </p:custDataLst>
          </p:nvPr>
        </p:nvSpPr>
        <p:spPr>
          <a:xfrm>
            <a:off x="9460865" y="1805940"/>
            <a:ext cx="1522730" cy="1362710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rmAutofit/>
          </a:bodyPr>
          <a:lstStyle/>
          <a:p>
            <a:pPr algn="l"/>
            <a:r>
              <a:rPr lang="en-US" sz="7200" spc="-100" dirty="0">
                <a:gradFill>
                  <a:gsLst>
                    <a:gs pos="16000">
                      <a:schemeClr val="accent1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16200000" scaled="0"/>
                </a:gradFill>
                <a:uFillTx/>
                <a:latin typeface="+mj-ea"/>
                <a:ea typeface="+mj-ea"/>
                <a:cs typeface="MiSans Normal" panose="00000500000000000000" charset="-122"/>
              </a:rPr>
              <a:t>04</a:t>
            </a:r>
            <a:endParaRPr lang="en-US" sz="7200" spc="-100" dirty="0">
              <a:gradFill>
                <a:gsLst>
                  <a:gs pos="16000">
                    <a:schemeClr val="accent1">
                      <a:alpha val="0"/>
                    </a:schemeClr>
                  </a:gs>
                  <a:gs pos="100000">
                    <a:schemeClr val="accent2"/>
                  </a:gs>
                </a:gsLst>
                <a:lin ang="16200000" scaled="0"/>
              </a:gradFill>
              <a:uFillTx/>
              <a:latin typeface="+mj-ea"/>
              <a:ea typeface="+mj-ea"/>
              <a:cs typeface="MiSans Normal" panose="00000500000000000000" charset="-122"/>
            </a:endParaRPr>
          </a:p>
        </p:txBody>
      </p:sp>
      <p:sp>
        <p:nvSpPr>
          <p:cNvPr id="36" name="标题"/>
          <p:cNvSpPr txBox="1"/>
          <p:nvPr>
            <p:custDataLst>
              <p:tags r:id="rId13"/>
            </p:custDataLst>
          </p:nvPr>
        </p:nvSpPr>
        <p:spPr>
          <a:xfrm>
            <a:off x="9639935" y="2844776"/>
            <a:ext cx="2038985" cy="15278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l"/>
            <a:r>
              <a:rPr lang="zh-CN" altLang="en-US" sz="2200" dirty="0">
                <a:solidFill>
                  <a:schemeClr val="bg2">
                    <a:lumMod val="2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</a:rPr>
              <a:t>暑假数学</a:t>
            </a:r>
            <a:r>
              <a:rPr lang="zh-CN" altLang="en-US" sz="2200" dirty="0">
                <a:solidFill>
                  <a:schemeClr val="bg2">
                    <a:lumMod val="2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</a:rPr>
              <a:t>学习建议</a:t>
            </a:r>
            <a:endParaRPr lang="zh-CN" altLang="en-US" sz="2200" dirty="0">
              <a:solidFill>
                <a:schemeClr val="bg2">
                  <a:lumMod val="25000"/>
                </a:schemeClr>
              </a:solidFill>
              <a:uFillTx/>
              <a:latin typeface="+mj-ea"/>
              <a:ea typeface="+mj-ea"/>
              <a:cs typeface="MiSans Normal" panose="00000500000000000000" charset="-122"/>
            </a:endParaRPr>
          </a:p>
        </p:txBody>
      </p:sp>
      <p:sp>
        <p:nvSpPr>
          <p:cNvPr id="18" name="任意多边形: 形状 17"/>
          <p:cNvSpPr/>
          <p:nvPr>
            <p:custDataLst>
              <p:tags r:id="rId14"/>
            </p:custDataLst>
          </p:nvPr>
        </p:nvSpPr>
        <p:spPr>
          <a:xfrm>
            <a:off x="2469712" y="5592687"/>
            <a:ext cx="2036016" cy="288283"/>
          </a:xfrm>
          <a:custGeom>
            <a:avLst/>
            <a:gdLst/>
            <a:ahLst/>
            <a:cxnLst/>
            <a:rect l="l" t="t" r="r" b="b"/>
            <a:pathLst>
              <a:path w="2036016" h="288283">
                <a:moveTo>
                  <a:pt x="398507" y="61321"/>
                </a:moveTo>
                <a:cubicBezTo>
                  <a:pt x="378301" y="61321"/>
                  <a:pt x="362442" y="68605"/>
                  <a:pt x="350930" y="83172"/>
                </a:cubicBezTo>
                <a:cubicBezTo>
                  <a:pt x="339417" y="97739"/>
                  <a:pt x="333661" y="118062"/>
                  <a:pt x="333661" y="144141"/>
                </a:cubicBezTo>
                <a:cubicBezTo>
                  <a:pt x="333661" y="170221"/>
                  <a:pt x="339417" y="190544"/>
                  <a:pt x="350930" y="205111"/>
                </a:cubicBezTo>
                <a:cubicBezTo>
                  <a:pt x="362442" y="219678"/>
                  <a:pt x="378301" y="226961"/>
                  <a:pt x="398507" y="226961"/>
                </a:cubicBezTo>
                <a:cubicBezTo>
                  <a:pt x="418713" y="226961"/>
                  <a:pt x="434572" y="219678"/>
                  <a:pt x="446084" y="205111"/>
                </a:cubicBezTo>
                <a:cubicBezTo>
                  <a:pt x="457597" y="190544"/>
                  <a:pt x="463353" y="170221"/>
                  <a:pt x="463353" y="144141"/>
                </a:cubicBezTo>
                <a:cubicBezTo>
                  <a:pt x="463353" y="118062"/>
                  <a:pt x="457597" y="97739"/>
                  <a:pt x="446084" y="83172"/>
                </a:cubicBezTo>
                <a:cubicBezTo>
                  <a:pt x="434572" y="68605"/>
                  <a:pt x="418713" y="61321"/>
                  <a:pt x="398507" y="61321"/>
                </a:cubicBezTo>
                <a:close/>
                <a:moveTo>
                  <a:pt x="1576216" y="4933"/>
                </a:moveTo>
                <a:lnTo>
                  <a:pt x="1794720" y="4933"/>
                </a:lnTo>
                <a:lnTo>
                  <a:pt x="1794720" y="66255"/>
                </a:lnTo>
                <a:lnTo>
                  <a:pt x="1718243" y="66255"/>
                </a:lnTo>
                <a:lnTo>
                  <a:pt x="1718243" y="283349"/>
                </a:lnTo>
                <a:lnTo>
                  <a:pt x="1652692" y="283349"/>
                </a:lnTo>
                <a:lnTo>
                  <a:pt x="1652692" y="66255"/>
                </a:lnTo>
                <a:lnTo>
                  <a:pt x="1576216" y="66255"/>
                </a:lnTo>
                <a:close/>
                <a:moveTo>
                  <a:pt x="1312678" y="4933"/>
                </a:moveTo>
                <a:lnTo>
                  <a:pt x="1372591" y="4933"/>
                </a:lnTo>
                <a:lnTo>
                  <a:pt x="1479375" y="162820"/>
                </a:lnTo>
                <a:lnTo>
                  <a:pt x="1481490" y="162820"/>
                </a:lnTo>
                <a:lnTo>
                  <a:pt x="1481490" y="4933"/>
                </a:lnTo>
                <a:lnTo>
                  <a:pt x="1547041" y="4933"/>
                </a:lnTo>
                <a:lnTo>
                  <a:pt x="1547041" y="283349"/>
                </a:lnTo>
                <a:lnTo>
                  <a:pt x="1490653" y="283349"/>
                </a:lnTo>
                <a:lnTo>
                  <a:pt x="1380344" y="125463"/>
                </a:lnTo>
                <a:lnTo>
                  <a:pt x="1378230" y="125463"/>
                </a:lnTo>
                <a:lnTo>
                  <a:pt x="1378230" y="283349"/>
                </a:lnTo>
                <a:lnTo>
                  <a:pt x="1312678" y="283349"/>
                </a:lnTo>
                <a:close/>
                <a:moveTo>
                  <a:pt x="1084078" y="4933"/>
                </a:moveTo>
                <a:lnTo>
                  <a:pt x="1273331" y="4933"/>
                </a:lnTo>
                <a:lnTo>
                  <a:pt x="1273331" y="64141"/>
                </a:lnTo>
                <a:lnTo>
                  <a:pt x="1149629" y="64141"/>
                </a:lnTo>
                <a:lnTo>
                  <a:pt x="1149629" y="112776"/>
                </a:lnTo>
                <a:lnTo>
                  <a:pt x="1266635" y="112776"/>
                </a:lnTo>
                <a:lnTo>
                  <a:pt x="1266635" y="171983"/>
                </a:lnTo>
                <a:lnTo>
                  <a:pt x="1149629" y="171983"/>
                </a:lnTo>
                <a:lnTo>
                  <a:pt x="1149629" y="224142"/>
                </a:lnTo>
                <a:lnTo>
                  <a:pt x="1277560" y="224142"/>
                </a:lnTo>
                <a:lnTo>
                  <a:pt x="1277560" y="283349"/>
                </a:lnTo>
                <a:lnTo>
                  <a:pt x="1084078" y="283349"/>
                </a:lnTo>
                <a:close/>
                <a:moveTo>
                  <a:pt x="833266" y="4933"/>
                </a:moveTo>
                <a:lnTo>
                  <a:pt x="1051770" y="4933"/>
                </a:lnTo>
                <a:lnTo>
                  <a:pt x="1051770" y="66255"/>
                </a:lnTo>
                <a:lnTo>
                  <a:pt x="975294" y="66255"/>
                </a:lnTo>
                <a:lnTo>
                  <a:pt x="975294" y="283349"/>
                </a:lnTo>
                <a:lnTo>
                  <a:pt x="909742" y="283349"/>
                </a:lnTo>
                <a:lnTo>
                  <a:pt x="909742" y="66255"/>
                </a:lnTo>
                <a:lnTo>
                  <a:pt x="833266" y="66255"/>
                </a:lnTo>
                <a:close/>
                <a:moveTo>
                  <a:pt x="569729" y="4933"/>
                </a:moveTo>
                <a:lnTo>
                  <a:pt x="629641" y="4933"/>
                </a:lnTo>
                <a:lnTo>
                  <a:pt x="736425" y="162820"/>
                </a:lnTo>
                <a:lnTo>
                  <a:pt x="738540" y="162820"/>
                </a:lnTo>
                <a:lnTo>
                  <a:pt x="738540" y="4933"/>
                </a:lnTo>
                <a:lnTo>
                  <a:pt x="804091" y="4933"/>
                </a:lnTo>
                <a:lnTo>
                  <a:pt x="804091" y="283349"/>
                </a:lnTo>
                <a:lnTo>
                  <a:pt x="747703" y="283349"/>
                </a:lnTo>
                <a:lnTo>
                  <a:pt x="637394" y="125463"/>
                </a:lnTo>
                <a:lnTo>
                  <a:pt x="635280" y="125463"/>
                </a:lnTo>
                <a:lnTo>
                  <a:pt x="635280" y="283349"/>
                </a:lnTo>
                <a:lnTo>
                  <a:pt x="569729" y="283349"/>
                </a:lnTo>
                <a:close/>
                <a:moveTo>
                  <a:pt x="1927822" y="0"/>
                </a:moveTo>
                <a:cubicBezTo>
                  <a:pt x="1978101" y="0"/>
                  <a:pt x="2014166" y="22555"/>
                  <a:pt x="2036016" y="67665"/>
                </a:cubicBezTo>
                <a:lnTo>
                  <a:pt x="1979628" y="93745"/>
                </a:lnTo>
                <a:cubicBezTo>
                  <a:pt x="1973755" y="81292"/>
                  <a:pt x="1966589" y="72423"/>
                  <a:pt x="1958131" y="67137"/>
                </a:cubicBezTo>
                <a:cubicBezTo>
                  <a:pt x="1949672" y="61850"/>
                  <a:pt x="1939334" y="59207"/>
                  <a:pt x="1927117" y="59207"/>
                </a:cubicBezTo>
                <a:cubicBezTo>
                  <a:pt x="1916074" y="59207"/>
                  <a:pt x="1906735" y="61615"/>
                  <a:pt x="1899099" y="66432"/>
                </a:cubicBezTo>
                <a:cubicBezTo>
                  <a:pt x="1891464" y="71248"/>
                  <a:pt x="1887645" y="77298"/>
                  <a:pt x="1887645" y="84582"/>
                </a:cubicBezTo>
                <a:cubicBezTo>
                  <a:pt x="1887645" y="89515"/>
                  <a:pt x="1889114" y="93568"/>
                  <a:pt x="1892051" y="96740"/>
                </a:cubicBezTo>
                <a:cubicBezTo>
                  <a:pt x="1894988" y="99912"/>
                  <a:pt x="1900098" y="103025"/>
                  <a:pt x="1907381" y="106079"/>
                </a:cubicBezTo>
                <a:cubicBezTo>
                  <a:pt x="1914665" y="109134"/>
                  <a:pt x="1925472" y="112541"/>
                  <a:pt x="1939804" y="116300"/>
                </a:cubicBezTo>
                <a:cubicBezTo>
                  <a:pt x="1958365" y="120999"/>
                  <a:pt x="1973990" y="125991"/>
                  <a:pt x="1986677" y="131278"/>
                </a:cubicBezTo>
                <a:cubicBezTo>
                  <a:pt x="1999364" y="136564"/>
                  <a:pt x="2010524" y="144846"/>
                  <a:pt x="2020157" y="156124"/>
                </a:cubicBezTo>
                <a:cubicBezTo>
                  <a:pt x="2029790" y="167401"/>
                  <a:pt x="2034607" y="182438"/>
                  <a:pt x="2034607" y="201234"/>
                </a:cubicBezTo>
                <a:cubicBezTo>
                  <a:pt x="2034607" y="218620"/>
                  <a:pt x="2029908" y="233892"/>
                  <a:pt x="2020510" y="247049"/>
                </a:cubicBezTo>
                <a:cubicBezTo>
                  <a:pt x="2011112" y="260207"/>
                  <a:pt x="1998013" y="270368"/>
                  <a:pt x="1981214" y="277534"/>
                </a:cubicBezTo>
                <a:cubicBezTo>
                  <a:pt x="1964415" y="284700"/>
                  <a:pt x="1945208" y="288283"/>
                  <a:pt x="1923593" y="288283"/>
                </a:cubicBezTo>
                <a:cubicBezTo>
                  <a:pt x="1897043" y="288283"/>
                  <a:pt x="1873960" y="281881"/>
                  <a:pt x="1854341" y="269076"/>
                </a:cubicBezTo>
                <a:cubicBezTo>
                  <a:pt x="1834723" y="256271"/>
                  <a:pt x="1820215" y="239296"/>
                  <a:pt x="1810817" y="218151"/>
                </a:cubicBezTo>
                <a:lnTo>
                  <a:pt x="1867557" y="192424"/>
                </a:lnTo>
                <a:cubicBezTo>
                  <a:pt x="1872256" y="204641"/>
                  <a:pt x="1879540" y="213804"/>
                  <a:pt x="1889408" y="219913"/>
                </a:cubicBezTo>
                <a:cubicBezTo>
                  <a:pt x="1899276" y="226021"/>
                  <a:pt x="1910788" y="229076"/>
                  <a:pt x="1923945" y="229076"/>
                </a:cubicBezTo>
                <a:cubicBezTo>
                  <a:pt x="1937337" y="229076"/>
                  <a:pt x="1947969" y="226903"/>
                  <a:pt x="1955840" y="222556"/>
                </a:cubicBezTo>
                <a:cubicBezTo>
                  <a:pt x="1963711" y="218209"/>
                  <a:pt x="1967646" y="212277"/>
                  <a:pt x="1967646" y="204758"/>
                </a:cubicBezTo>
                <a:cubicBezTo>
                  <a:pt x="1967646" y="199590"/>
                  <a:pt x="1966236" y="195243"/>
                  <a:pt x="1963417" y="191719"/>
                </a:cubicBezTo>
                <a:cubicBezTo>
                  <a:pt x="1960597" y="188194"/>
                  <a:pt x="1955487" y="184846"/>
                  <a:pt x="1948086" y="181675"/>
                </a:cubicBezTo>
                <a:cubicBezTo>
                  <a:pt x="1940685" y="178503"/>
                  <a:pt x="1929936" y="175037"/>
                  <a:pt x="1915840" y="171278"/>
                </a:cubicBezTo>
                <a:cubicBezTo>
                  <a:pt x="1896809" y="166109"/>
                  <a:pt x="1881008" y="160882"/>
                  <a:pt x="1868438" y="155595"/>
                </a:cubicBezTo>
                <a:cubicBezTo>
                  <a:pt x="1855869" y="150309"/>
                  <a:pt x="1844767" y="141968"/>
                  <a:pt x="1835134" y="130573"/>
                </a:cubicBezTo>
                <a:cubicBezTo>
                  <a:pt x="1825501" y="119178"/>
                  <a:pt x="1820685" y="104200"/>
                  <a:pt x="1820685" y="85639"/>
                </a:cubicBezTo>
                <a:cubicBezTo>
                  <a:pt x="1820685" y="69192"/>
                  <a:pt x="1825442" y="54449"/>
                  <a:pt x="1834958" y="41409"/>
                </a:cubicBezTo>
                <a:cubicBezTo>
                  <a:pt x="1844473" y="28370"/>
                  <a:pt x="1857396" y="18208"/>
                  <a:pt x="1873725" y="10925"/>
                </a:cubicBezTo>
                <a:cubicBezTo>
                  <a:pt x="1890054" y="3641"/>
                  <a:pt x="1908086" y="0"/>
                  <a:pt x="1927822" y="0"/>
                </a:cubicBezTo>
                <a:close/>
                <a:moveTo>
                  <a:pt x="398507" y="0"/>
                </a:moveTo>
                <a:cubicBezTo>
                  <a:pt x="425526" y="0"/>
                  <a:pt x="448904" y="5756"/>
                  <a:pt x="468640" y="17268"/>
                </a:cubicBezTo>
                <a:cubicBezTo>
                  <a:pt x="488376" y="28781"/>
                  <a:pt x="503588" y="45345"/>
                  <a:pt x="514279" y="66960"/>
                </a:cubicBezTo>
                <a:cubicBezTo>
                  <a:pt x="524969" y="88576"/>
                  <a:pt x="530314" y="114303"/>
                  <a:pt x="530314" y="144141"/>
                </a:cubicBezTo>
                <a:cubicBezTo>
                  <a:pt x="530314" y="173980"/>
                  <a:pt x="524969" y="199707"/>
                  <a:pt x="514279" y="221322"/>
                </a:cubicBezTo>
                <a:cubicBezTo>
                  <a:pt x="503588" y="242938"/>
                  <a:pt x="488376" y="259502"/>
                  <a:pt x="468640" y="271014"/>
                </a:cubicBezTo>
                <a:cubicBezTo>
                  <a:pt x="448904" y="282527"/>
                  <a:pt x="425526" y="288283"/>
                  <a:pt x="398507" y="288283"/>
                </a:cubicBezTo>
                <a:cubicBezTo>
                  <a:pt x="371488" y="288283"/>
                  <a:pt x="348110" y="282527"/>
                  <a:pt x="328374" y="271014"/>
                </a:cubicBezTo>
                <a:cubicBezTo>
                  <a:pt x="308639" y="259502"/>
                  <a:pt x="293426" y="242938"/>
                  <a:pt x="282735" y="221322"/>
                </a:cubicBezTo>
                <a:cubicBezTo>
                  <a:pt x="272045" y="199707"/>
                  <a:pt x="266700" y="173980"/>
                  <a:pt x="266700" y="144141"/>
                </a:cubicBezTo>
                <a:cubicBezTo>
                  <a:pt x="266700" y="114303"/>
                  <a:pt x="272045" y="88576"/>
                  <a:pt x="282735" y="66960"/>
                </a:cubicBezTo>
                <a:cubicBezTo>
                  <a:pt x="293426" y="45345"/>
                  <a:pt x="308639" y="28781"/>
                  <a:pt x="328374" y="17268"/>
                </a:cubicBezTo>
                <a:cubicBezTo>
                  <a:pt x="348110" y="5756"/>
                  <a:pt x="371488" y="0"/>
                  <a:pt x="398507" y="0"/>
                </a:cubicBezTo>
                <a:close/>
                <a:moveTo>
                  <a:pt x="136741" y="0"/>
                </a:moveTo>
                <a:cubicBezTo>
                  <a:pt x="184906" y="0"/>
                  <a:pt x="220148" y="23612"/>
                  <a:pt x="242469" y="70837"/>
                </a:cubicBezTo>
                <a:lnTo>
                  <a:pt x="184319" y="96212"/>
                </a:lnTo>
                <a:cubicBezTo>
                  <a:pt x="179384" y="84699"/>
                  <a:pt x="172512" y="76006"/>
                  <a:pt x="163701" y="70132"/>
                </a:cubicBezTo>
                <a:cubicBezTo>
                  <a:pt x="154891" y="64258"/>
                  <a:pt x="144612" y="61321"/>
                  <a:pt x="132864" y="61321"/>
                </a:cubicBezTo>
                <a:cubicBezTo>
                  <a:pt x="120177" y="61321"/>
                  <a:pt x="108841" y="64670"/>
                  <a:pt x="98855" y="71366"/>
                </a:cubicBezTo>
                <a:cubicBezTo>
                  <a:pt x="88870" y="78062"/>
                  <a:pt x="81117" y="87577"/>
                  <a:pt x="75595" y="99912"/>
                </a:cubicBezTo>
                <a:cubicBezTo>
                  <a:pt x="70074" y="112247"/>
                  <a:pt x="67313" y="126520"/>
                  <a:pt x="67313" y="142732"/>
                </a:cubicBezTo>
                <a:cubicBezTo>
                  <a:pt x="67313" y="159648"/>
                  <a:pt x="70074" y="174450"/>
                  <a:pt x="75595" y="187137"/>
                </a:cubicBezTo>
                <a:cubicBezTo>
                  <a:pt x="81117" y="199825"/>
                  <a:pt x="88870" y="209634"/>
                  <a:pt x="98855" y="216565"/>
                </a:cubicBezTo>
                <a:cubicBezTo>
                  <a:pt x="108841" y="223496"/>
                  <a:pt x="120177" y="226961"/>
                  <a:pt x="132864" y="226961"/>
                </a:cubicBezTo>
                <a:cubicBezTo>
                  <a:pt x="155184" y="226961"/>
                  <a:pt x="172571" y="215331"/>
                  <a:pt x="185023" y="192071"/>
                </a:cubicBezTo>
                <a:lnTo>
                  <a:pt x="243173" y="217446"/>
                </a:lnTo>
                <a:cubicBezTo>
                  <a:pt x="232601" y="240236"/>
                  <a:pt x="217857" y="257740"/>
                  <a:pt x="198944" y="269957"/>
                </a:cubicBezTo>
                <a:cubicBezTo>
                  <a:pt x="180030" y="282174"/>
                  <a:pt x="158121" y="288283"/>
                  <a:pt x="133217" y="288283"/>
                </a:cubicBezTo>
                <a:cubicBezTo>
                  <a:pt x="107372" y="288283"/>
                  <a:pt x="84347" y="282233"/>
                  <a:pt x="64142" y="270133"/>
                </a:cubicBezTo>
                <a:cubicBezTo>
                  <a:pt x="43936" y="258033"/>
                  <a:pt x="28194" y="240941"/>
                  <a:pt x="16916" y="218855"/>
                </a:cubicBezTo>
                <a:cubicBezTo>
                  <a:pt x="5639" y="196770"/>
                  <a:pt x="0" y="171396"/>
                  <a:pt x="0" y="142732"/>
                </a:cubicBezTo>
                <a:cubicBezTo>
                  <a:pt x="0" y="114538"/>
                  <a:pt x="5698" y="89633"/>
                  <a:pt x="17093" y="68018"/>
                </a:cubicBezTo>
                <a:cubicBezTo>
                  <a:pt x="28488" y="46402"/>
                  <a:pt x="44582" y="29662"/>
                  <a:pt x="65375" y="17797"/>
                </a:cubicBezTo>
                <a:cubicBezTo>
                  <a:pt x="86168" y="5932"/>
                  <a:pt x="109957" y="0"/>
                  <a:pt x="136741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  <a:prstDash val="sysDot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indent="-228600">
              <a:spcAft>
                <a:spcPts val="1000"/>
              </a:spcAft>
            </a:pPr>
            <a:endParaRPr lang="zh-CN" altLang="en-US" sz="2800">
              <a:ln>
                <a:noFill/>
                <a:prstDash val="sysDot"/>
              </a:ln>
              <a:solidFill>
                <a:schemeClr val="accent2">
                  <a:lumMod val="40000"/>
                  <a:lumOff val="60000"/>
                </a:schemeClr>
              </a:solidFill>
              <a:latin typeface="+mj-ea"/>
              <a:ea typeface="+mj-ea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PART ONE</a:t>
            </a:r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>
                <a:solidFill>
                  <a:schemeClr val="bg2">
                    <a:lumMod val="25000"/>
                  </a:schemeClr>
                </a:solidFill>
                <a:cs typeface="MiSans Normal" panose="00000500000000000000" charset="-122"/>
                <a:sym typeface="+mn-ea"/>
              </a:rPr>
              <a:t>本学期工作复盘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olidFill>
                  <a:schemeClr val="bg2">
                    <a:lumMod val="25000"/>
                  </a:schemeClr>
                </a:solidFill>
                <a:cs typeface="MiSans Normal" panose="00000500000000000000" charset="-122"/>
                <a:sym typeface="+mn-ea"/>
              </a:rPr>
              <a:t>本学期工作复盘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01675" y="1431925"/>
            <a:ext cx="988695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</a:t>
            </a:r>
            <a:r>
              <a:rPr lang="zh-CN" altLang="en-US"/>
              <a:t>本学期知识最大的特点是：从简单计算转向逻辑推理、数形结合、规范答题。不再是算对答案就得分，更看重步骤完整、逻辑清晰、审题细致、格式规范。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课堂上，</a:t>
            </a:r>
            <a:r>
              <a:rPr lang="zh-CN" altLang="en-US">
                <a:solidFill>
                  <a:srgbClr val="FF0000"/>
                </a:solidFill>
              </a:rPr>
              <a:t>坚持抓基础、重规范、练思维！</a:t>
            </a:r>
            <a:r>
              <a:rPr lang="zh-CN" altLang="en-US"/>
              <a:t>帮孩子们养成标准的初中解题习惯，课中会随时关注每一位学生的听课状态，针对性提问、督促走神、基础薄弱的孩子，保证课堂效率。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课后，坚持精细化批改作业，逐题标注错误问题，针对高频错题、典型难题，专门利用课堂时间集中讲解，同时要求孩子们做好错题订正与整理。对于成绩波动大、学习松懈的学生，单独沟通、单独督促，及时纠正孩子的学习问题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3.</a:t>
            </a:r>
            <a:r>
              <a:rPr lang="zh-CN" altLang="en-US">
                <a:sym typeface="+mn-ea"/>
              </a:rPr>
              <a:t>每周固定时间检查错题本，提醒同学们总结与反思，养成好习惯。</a:t>
            </a:r>
            <a:endParaRPr lang="zh-CN" altLang="en-US"/>
          </a:p>
          <a:p>
            <a:endParaRPr lang="en-US" altLang="zh-CN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PART </a:t>
            </a:r>
            <a:r>
              <a:t>two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>
                <a:solidFill>
                  <a:schemeClr val="bg2">
                    <a:lumMod val="25000"/>
                  </a:schemeClr>
                </a:solidFill>
                <a:cs typeface="MiSans Normal" panose="00000500000000000000" charset="-122"/>
                <a:sym typeface="+mn-ea"/>
              </a:rPr>
              <a:t>初中数学学科核心学习要求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olidFill>
                  <a:schemeClr val="bg2">
                    <a:lumMod val="25000"/>
                  </a:schemeClr>
                </a:solidFill>
                <a:cs typeface="MiSans Normal" panose="00000500000000000000" charset="-122"/>
                <a:sym typeface="+mn-ea"/>
              </a:rPr>
              <a:t>初中数学学科核心学习要求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440180" y="1800860"/>
            <a:ext cx="818451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初中数学不只是刷题背公式。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第一，计算要准确，还要明白为什么这么算；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第二，认识各种图形，能看图，也能</a:t>
            </a:r>
            <a:r>
              <a:rPr lang="zh-CN" altLang="en-US"/>
              <a:t>画图，还能有条理地说出道理；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第三，看得懂数据，简单分析事情的可能性。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最重要的是：遇到生活中的问题，能转化成数学问题来解决。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学习不能只记答案，要多思考知识是怎么来的，学会自己动脑筋。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PART </a:t>
            </a:r>
            <a:r>
              <a:t>t</a:t>
            </a:r>
            <a:r>
              <a:t>hree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>
                <a:solidFill>
                  <a:schemeClr val="bg2">
                    <a:lumMod val="25000"/>
                  </a:schemeClr>
                </a:solidFill>
                <a:cs typeface="MiSans Normal" panose="00000500000000000000" charset="-122"/>
                <a:sym typeface="+mn-ea"/>
              </a:rPr>
              <a:t>本学期期末考试</a:t>
            </a:r>
            <a:br>
              <a:rPr>
                <a:solidFill>
                  <a:schemeClr val="bg2">
                    <a:lumMod val="25000"/>
                  </a:schemeClr>
                </a:solidFill>
                <a:cs typeface="MiSans Normal" panose="00000500000000000000" charset="-122"/>
                <a:sym typeface="+mn-ea"/>
              </a:rPr>
            </a:br>
            <a:r>
              <a:rPr>
                <a:solidFill>
                  <a:schemeClr val="bg2">
                    <a:lumMod val="25000"/>
                  </a:schemeClr>
                </a:solidFill>
                <a:cs typeface="MiSans Normal" panose="00000500000000000000" charset="-122"/>
                <a:sym typeface="+mn-ea"/>
              </a:rPr>
              <a:t>学情分析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>
                <a:solidFill>
                  <a:schemeClr val="bg2">
                    <a:lumMod val="25000"/>
                  </a:schemeClr>
                </a:solidFill>
                <a:cs typeface="MiSans Normal" panose="00000500000000000000" charset="-122"/>
                <a:sym typeface="+mn-ea"/>
              </a:rPr>
              <a:t>本学期期末考试学情分析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440180" y="1800860"/>
            <a:ext cx="818451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Font typeface="Wingdings" panose="05000000000000000000" charset="0"/>
              <a:buNone/>
              <a:defRPr/>
            </a:pPr>
            <a:r>
              <a:rPr lang="zh-CN" altLang="en-US" sz="2800" dirty="0">
                <a:solidFill>
                  <a:schemeClr val="tx1"/>
                </a:solidFill>
                <a:sym typeface="+mn-lt"/>
              </a:rPr>
              <a:t>平均分：</a:t>
            </a:r>
            <a:r>
              <a:rPr lang="en-US" altLang="zh-CN" sz="2800" dirty="0">
                <a:solidFill>
                  <a:schemeClr val="tx1"/>
                </a:solidFill>
                <a:sym typeface="+mn-lt"/>
              </a:rPr>
              <a:t>97</a:t>
            </a:r>
            <a:r>
              <a:rPr lang="zh-CN" altLang="en-US" sz="2800" dirty="0">
                <a:solidFill>
                  <a:schemeClr val="tx1"/>
                </a:solidFill>
                <a:sym typeface="+mn-lt"/>
              </a:rPr>
              <a:t>分</a:t>
            </a:r>
            <a:endParaRPr lang="zh-CN" altLang="en-US" sz="2800" dirty="0">
              <a:solidFill>
                <a:schemeClr val="tx1"/>
              </a:solidFill>
              <a:sym typeface="+mn-lt"/>
            </a:endParaRPr>
          </a:p>
          <a:p>
            <a:pPr lvl="0" indent="0" algn="l" fontAlgn="auto">
              <a:lnSpc>
                <a:spcPct val="150000"/>
              </a:lnSpc>
              <a:buFont typeface="Wingdings" panose="05000000000000000000" charset="0"/>
              <a:buNone/>
              <a:defRPr/>
            </a:pPr>
            <a:r>
              <a:rPr lang="zh-CN" altLang="en-US" sz="2800" dirty="0">
                <a:solidFill>
                  <a:schemeClr val="tx1"/>
                </a:solidFill>
                <a:sym typeface="+mn-lt"/>
              </a:rPr>
              <a:t>最高分：</a:t>
            </a:r>
            <a:r>
              <a:rPr lang="en-US" altLang="zh-CN" sz="2800" dirty="0">
                <a:solidFill>
                  <a:schemeClr val="tx1"/>
                </a:solidFill>
                <a:sym typeface="+mn-lt"/>
              </a:rPr>
              <a:t>120</a:t>
            </a:r>
            <a:r>
              <a:rPr lang="zh-CN" altLang="en-US" sz="2800" dirty="0">
                <a:solidFill>
                  <a:schemeClr val="tx1"/>
                </a:solidFill>
                <a:sym typeface="+mn-lt"/>
              </a:rPr>
              <a:t>分</a:t>
            </a:r>
            <a:endParaRPr lang="zh-CN" altLang="en-US" sz="2800" dirty="0">
              <a:solidFill>
                <a:schemeClr val="tx1"/>
              </a:solidFill>
              <a:sym typeface="+mn-lt"/>
            </a:endParaRPr>
          </a:p>
          <a:p>
            <a:pPr lvl="0" indent="0" algn="l" fontAlgn="auto">
              <a:lnSpc>
                <a:spcPct val="150000"/>
              </a:lnSpc>
              <a:buFont typeface="Wingdings" panose="05000000000000000000" charset="0"/>
              <a:buNone/>
              <a:defRPr/>
            </a:pPr>
            <a:r>
              <a:rPr lang="en-US" altLang="zh-CN" sz="2800" dirty="0">
                <a:solidFill>
                  <a:schemeClr val="tx1"/>
                </a:solidFill>
                <a:sym typeface="+mn-lt"/>
              </a:rPr>
              <a:t>110</a:t>
            </a:r>
            <a:r>
              <a:rPr lang="zh-CN" altLang="en-US" sz="2800" dirty="0">
                <a:solidFill>
                  <a:schemeClr val="tx1"/>
                </a:solidFill>
                <a:sym typeface="+mn-lt"/>
              </a:rPr>
              <a:t>分以上</a:t>
            </a:r>
            <a:r>
              <a:rPr lang="en-US" altLang="zh-CN" sz="2800" dirty="0">
                <a:solidFill>
                  <a:schemeClr val="tx1"/>
                </a:solidFill>
                <a:sym typeface="+mn-lt"/>
              </a:rPr>
              <a:t> 14</a:t>
            </a:r>
            <a:r>
              <a:rPr lang="zh-CN" altLang="en-US" sz="2800" dirty="0">
                <a:solidFill>
                  <a:schemeClr val="tx1"/>
                </a:solidFill>
                <a:sym typeface="+mn-lt"/>
              </a:rPr>
              <a:t>人</a:t>
            </a:r>
            <a:endParaRPr lang="zh-CN" altLang="en-US" sz="2800" dirty="0">
              <a:solidFill>
                <a:schemeClr val="tx1"/>
              </a:solidFill>
              <a:sym typeface="+mn-lt"/>
            </a:endParaRPr>
          </a:p>
          <a:p>
            <a:pPr lvl="0" indent="0" algn="l" fontAlgn="auto">
              <a:lnSpc>
                <a:spcPct val="150000"/>
              </a:lnSpc>
              <a:buFont typeface="Wingdings" panose="05000000000000000000" charset="0"/>
              <a:buNone/>
              <a:defRPr/>
            </a:pPr>
            <a:r>
              <a:rPr lang="en-US" altLang="zh-CN" sz="2800" dirty="0">
                <a:solidFill>
                  <a:schemeClr val="tx1"/>
                </a:solidFill>
                <a:sym typeface="+mn-lt"/>
              </a:rPr>
              <a:t>102</a:t>
            </a:r>
            <a:r>
              <a:rPr lang="zh-CN" altLang="en-US" sz="2800" dirty="0">
                <a:solidFill>
                  <a:schemeClr val="tx1"/>
                </a:solidFill>
                <a:sym typeface="+mn-lt"/>
              </a:rPr>
              <a:t>分以上</a:t>
            </a:r>
            <a:r>
              <a:rPr lang="en-US" altLang="zh-CN" sz="2800" dirty="0">
                <a:solidFill>
                  <a:schemeClr val="tx1"/>
                </a:solidFill>
                <a:sym typeface="+mn-lt"/>
              </a:rPr>
              <a:t>29</a:t>
            </a:r>
            <a:r>
              <a:rPr lang="zh-CN" altLang="en-US" sz="2800" dirty="0">
                <a:solidFill>
                  <a:schemeClr val="tx1"/>
                </a:solidFill>
                <a:sym typeface="+mn-lt"/>
              </a:rPr>
              <a:t>人</a:t>
            </a:r>
            <a:endParaRPr lang="zh-CN" altLang="en-US" sz="2800" dirty="0">
              <a:solidFill>
                <a:schemeClr val="tx1"/>
              </a:solidFill>
              <a:sym typeface="+mn-lt"/>
            </a:endParaRPr>
          </a:p>
          <a:p>
            <a:pPr lvl="0" indent="0" algn="l" fontAlgn="auto">
              <a:lnSpc>
                <a:spcPct val="150000"/>
              </a:lnSpc>
              <a:buFont typeface="Wingdings" panose="05000000000000000000" charset="0"/>
              <a:buNone/>
              <a:defRPr/>
            </a:pPr>
            <a:r>
              <a:rPr lang="en-US" altLang="zh-CN" sz="2800" dirty="0">
                <a:solidFill>
                  <a:schemeClr val="tx1"/>
                </a:solidFill>
                <a:sym typeface="+mn-lt"/>
              </a:rPr>
              <a:t>100</a:t>
            </a:r>
            <a:r>
              <a:rPr lang="zh-CN" altLang="en-US" sz="2800" dirty="0">
                <a:solidFill>
                  <a:schemeClr val="tx1"/>
                </a:solidFill>
                <a:sym typeface="+mn-lt"/>
              </a:rPr>
              <a:t>分以上</a:t>
            </a:r>
            <a:r>
              <a:rPr lang="en-US" altLang="zh-CN" sz="2800" dirty="0">
                <a:solidFill>
                  <a:schemeClr val="tx1"/>
                </a:solidFill>
                <a:sym typeface="+mn-lt"/>
              </a:rPr>
              <a:t>32</a:t>
            </a:r>
            <a:r>
              <a:rPr lang="zh-CN" altLang="en-US" sz="2800" dirty="0">
                <a:solidFill>
                  <a:schemeClr val="tx1"/>
                </a:solidFill>
                <a:sym typeface="+mn-lt"/>
              </a:rPr>
              <a:t>人</a:t>
            </a:r>
            <a:endParaRPr lang="zh-CN" altLang="en-US" sz="2800" dirty="0">
              <a:solidFill>
                <a:schemeClr val="tx1"/>
              </a:solidFill>
              <a:sym typeface="+mn-lt"/>
            </a:endParaRPr>
          </a:p>
          <a:p>
            <a:pPr lvl="0" indent="0" algn="l" fontAlgn="auto">
              <a:lnSpc>
                <a:spcPct val="150000"/>
              </a:lnSpc>
              <a:buFont typeface="Wingdings" panose="05000000000000000000" charset="0"/>
              <a:buNone/>
              <a:defRPr/>
            </a:pPr>
            <a:r>
              <a:rPr lang="en-US" altLang="zh-CN" sz="2800" dirty="0">
                <a:solidFill>
                  <a:schemeClr val="tx1"/>
                </a:solidFill>
                <a:sym typeface="+mn-lt"/>
              </a:rPr>
              <a:t>72</a:t>
            </a:r>
            <a:r>
              <a:rPr lang="zh-CN" altLang="en-US" sz="2800" dirty="0">
                <a:solidFill>
                  <a:schemeClr val="tx1"/>
                </a:solidFill>
                <a:sym typeface="+mn-lt"/>
              </a:rPr>
              <a:t>分以下</a:t>
            </a:r>
            <a:r>
              <a:rPr lang="en-US" altLang="zh-CN" sz="2800" dirty="0">
                <a:solidFill>
                  <a:schemeClr val="tx1"/>
                </a:solidFill>
                <a:sym typeface="+mn-lt"/>
              </a:rPr>
              <a:t>6</a:t>
            </a:r>
            <a:r>
              <a:rPr lang="zh-CN" altLang="en-US" sz="2800" dirty="0">
                <a:solidFill>
                  <a:schemeClr val="tx1"/>
                </a:solidFill>
                <a:sym typeface="+mn-lt"/>
              </a:rPr>
              <a:t>人</a:t>
            </a:r>
            <a:endParaRPr lang="zh-CN" altLang="en-US" sz="2800" dirty="0">
              <a:solidFill>
                <a:schemeClr val="tx1"/>
              </a:solidFill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本学期存在</a:t>
            </a:r>
            <a:r>
              <a:t>问题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79195" y="1463675"/>
            <a:ext cx="854265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第一，</a:t>
            </a:r>
            <a:r>
              <a:rPr lang="zh-CN" altLang="en-US">
                <a:solidFill>
                  <a:srgbClr val="FF0000"/>
                </a:solidFill>
              </a:rPr>
              <a:t>审题粗心，细节漏洞多。</a:t>
            </a:r>
            <a:r>
              <a:rPr lang="zh-CN" altLang="en-US"/>
              <a:t>很多孩子不是不会做，而是读题不认真，看错数字、漏看条件、忽略题干关键要求。</a:t>
            </a:r>
            <a:endParaRPr lang="en-US" altLang="zh-CN"/>
          </a:p>
          <a:p>
            <a:r>
              <a:rPr lang="zh-CN" altLang="en-US"/>
              <a:t>第二，</a:t>
            </a:r>
            <a:r>
              <a:rPr lang="zh-CN" altLang="en-US">
                <a:solidFill>
                  <a:srgbClr val="FF0000"/>
                </a:solidFill>
              </a:rPr>
              <a:t>答题不规范，步骤不完整。</a:t>
            </a:r>
            <a:r>
              <a:rPr lang="zh-CN" altLang="en-US"/>
              <a:t>七年级下册重点考察几何推理和应用题解题步骤，初中数学是按步骤给分。很多孩子思维没问题、答案正确，但跳步解题、书写潦草、推理逻辑混乱，缺少必要的文字说明，考试被扣除步骤分，这是初一学生最容易忽视的扣分点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第三，</a:t>
            </a:r>
            <a:r>
              <a:rPr lang="zh-CN" altLang="en-US">
                <a:solidFill>
                  <a:srgbClr val="FF0000"/>
                </a:solidFill>
              </a:rPr>
              <a:t>错题不复盘，漏洞越积越多。</a:t>
            </a:r>
            <a:r>
              <a:rPr lang="zh-CN" altLang="en-US"/>
              <a:t>大部分孩子只是完成作业任务，做错的题目订正完就搁置，不会主动总结错误原因、整理错题类型。数学学习最怕重复犯错，同一类题型反复出错，基础漏洞不断堆积，到八年级学习几何、函数难点时，会出现跟不上、听不懂的情况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第四，</a:t>
            </a:r>
            <a:r>
              <a:rPr lang="zh-CN" altLang="en-US">
                <a:solidFill>
                  <a:srgbClr val="FF0000"/>
                </a:solidFill>
              </a:rPr>
              <a:t>两极分化逐渐显现</a:t>
            </a:r>
            <a:r>
              <a:rPr lang="zh-CN" altLang="en-US"/>
              <a:t>。进入下学期，自律性、主动性的差距开始体现。自律的孩子能够课前预习、课上专注、课后巩固，稳步提升；而被动学习的孩子，上课走神、作业敷衍、依赖答案，基础越来越薄弱，分数差距慢慢拉开。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初中数学学习</a:t>
            </a:r>
            <a:r>
              <a:rPr lang="zh-CN" altLang="en-US"/>
              <a:t>建议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197610" y="1299210"/>
            <a:ext cx="843280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第一，</a:t>
            </a:r>
            <a:r>
              <a:rPr lang="zh-CN" altLang="en-US">
                <a:solidFill>
                  <a:srgbClr val="FF0000"/>
                </a:solidFill>
              </a:rPr>
              <a:t>重点监督孩子作业质量，而非只看完成与否。</a:t>
            </a:r>
            <a:r>
              <a:rPr lang="zh-CN" altLang="en-US"/>
              <a:t>初中作业不追求速度，追求正确率和规范度。希望家长每晚花两分钟查看孩子的数学作业，关注书写是否工整、错题是否认真订正，杜绝敷衍抄写、潦草应付的情况。作业的态度，直接决定考试的状态。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第二，</a:t>
            </a:r>
            <a:r>
              <a:rPr lang="zh-CN" altLang="en-US">
                <a:solidFill>
                  <a:srgbClr val="FF0000"/>
                </a:solidFill>
              </a:rPr>
              <a:t>督促孩子重视错题，坚持复盘。</a:t>
            </a:r>
            <a:r>
              <a:rPr lang="zh-CN" altLang="en-US"/>
              <a:t>不用盲目刷海量习题，让孩子把每次作业、测试的错题整理好，每周抽空翻看复盘。搞定一道错题，就补齐一个知识漏洞，长期坚持，基础会越来越扎实，失误会越来越少。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第三，</a:t>
            </a:r>
            <a:r>
              <a:rPr lang="zh-CN" altLang="en-US">
                <a:solidFill>
                  <a:srgbClr val="FF0000"/>
                </a:solidFill>
              </a:rPr>
              <a:t>多鼓励、少指责，保护孩子的学习信心。</a:t>
            </a:r>
            <a:r>
              <a:rPr lang="zh-CN" altLang="en-US"/>
              <a:t>数学学习是循序渐进的过程，成绩波动是正常现象。孩子考得不理想时，希望家长多和孩子沟通问题所在，而非一味批评。初一的学习信心，是孩子学好初中三年数学的关键。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第四，</a:t>
            </a:r>
            <a:r>
              <a:rPr lang="zh-CN" altLang="en-US">
                <a:solidFill>
                  <a:srgbClr val="FF0000"/>
                </a:solidFill>
              </a:rPr>
              <a:t>关注孩子的听课状态和学习自律性。</a:t>
            </a:r>
            <a:r>
              <a:rPr lang="zh-CN" altLang="en-US"/>
              <a:t>初中数学课堂节奏快、知识点密，一旦上课走神，很容易遗漏重点。家长在家多引导孩子养成专注学习的习惯，远离电子产品，保证孩子课堂能够高效吸收知识。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/>
          <a:p>
            <a:r>
              <a:rPr>
                <a:solidFill>
                  <a:schemeClr val="bg2">
                    <a:lumMod val="25000"/>
                  </a:schemeClr>
                </a:solidFill>
                <a:cs typeface="MiSans Normal" panose="00000500000000000000" charset="-122"/>
                <a:sym typeface="+mn-ea"/>
              </a:rPr>
              <a:t>暑假数学学习建议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PART</a:t>
            </a:r>
            <a:r>
              <a:t> </a:t>
            </a:r>
            <a:r>
              <a:t>four</a:t>
            </a:r>
          </a:p>
        </p:txBody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olidFill>
                  <a:schemeClr val="bg2">
                    <a:lumMod val="25000"/>
                  </a:schemeClr>
                </a:solidFill>
                <a:cs typeface="MiSans Normal" panose="00000500000000000000" charset="-122"/>
                <a:sym typeface="+mn-ea"/>
              </a:rPr>
              <a:t>暑假数学学习建议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407795" y="1848485"/>
            <a:ext cx="8926195" cy="2027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sym typeface="+mn-ea"/>
              </a:rPr>
              <a:t>复习</a:t>
            </a:r>
            <a:r>
              <a:rPr lang="zh-CN" altLang="en-US" sz="240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：认真完成</a:t>
            </a:r>
            <a:r>
              <a:rPr lang="zh-CN" altLang="en-US" sz="240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暑假作业、仔细复习七下各类模型，八上在此基础上继续学习、有能力的同学绘制七下各章节思维导图。</a:t>
            </a: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sz="240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sym typeface="+mn-ea"/>
              </a:rPr>
              <a:t>预习</a:t>
            </a:r>
            <a:r>
              <a:rPr lang="zh-CN" altLang="en-US" sz="240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：预习八上数学教材，熟悉教材，以教材题目为主，多思考，多联系。</a:t>
            </a: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  <p:tag name="KSO_WM_UNIT_CONTENT_GROUP_TYPE" val="contentchip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CONTENT_GROUP_TYPE" val="contentchip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1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UNIT_TYPE" val="i"/>
  <p:tag name="KSO_WM_UNIT_INDEX" val="2"/>
</p:tagLst>
</file>

<file path=ppt/tags/tag1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UNIT_TYPE" val="i"/>
  <p:tag name="KSO_WM_UNIT_INDEX" val="3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2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CONTENT_GROUP_TYPE" val="contentchip"/>
  <p:tag name="KSO_WM_UNIT_TYPE" val="i"/>
  <p:tag name="KSO_WM_UNIT_INDEX" val="2"/>
</p:tagLst>
</file>

<file path=ppt/tags/tag26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2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3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3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2"/>
  <p:tag name="KSO_WM_UNIT_LAYERLEVEL" val="1"/>
  <p:tag name="KSO_WM_TAG_VERSION" val="3.0"/>
  <p:tag name="KSO_WM_UNIT_CONTENT_GROUP_TYPE" val="titlestyle"/>
  <p:tag name="KSO_WM_UNIT_TYPE" val="i"/>
  <p:tag name="KSO_WM_UNIT_INDEX" val="2"/>
</p:tagLst>
</file>

<file path=ppt/tags/tag39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4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6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7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  <p:tag name="KSO_WM_UNIT_CONTENT_GROUP_TYPE" val="contentchip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TYPE" val="i"/>
  <p:tag name="KSO_WM_UNIT_INDEX" val="2"/>
</p:tagLst>
</file>

<file path=ppt/tags/tag7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92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2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TEMPLATE_THUMBS_INDEX" val="1、9"/>
</p:tagLst>
</file>

<file path=ppt/tags/tag8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0292_1*b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  <p:tag name="KSO_WM_UNIT_PRESET_TEXT" val="添加副标题"/>
  <p:tag name="KSO_WM_UNIT_TEXT_TYPE" val="1"/>
</p:tagLst>
</file>

<file path=ppt/tags/tag8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2_1*a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  <p:tag name="KSO_WM_UNIT_PRESET_TEXT" val="添加文档标题"/>
  <p:tag name="KSO_WM_UNIT_TEXT_TYPE" val="1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SLIDE_ID" val="custom20230292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SLIDE_LAYOUT" val="a_b_f"/>
  <p:tag name="KSO_WM_SLIDE_LAYOUT_CNT" val="1_1_1"/>
  <p:tag name="KSO_WM_TEMPLATE_THUMBS_INDEX" val="1、9"/>
  <p:tag name="KSO_WM_SLIDE_CONTENT_AREA" val="{&quot;left&quot;:&quot;54.6&quot;,&quot;top&quot;:&quot;123.65&quot;,&quot;width&quot;:&quot;574.1&quot;,&quot;height&quot;:&quot;305.6&quot;}"/>
  <p:tag name="KSO_WM_SLIDE_THEME_ID" val="3303153"/>
  <p:tag name="KSO_WM_SLIDE_THEME_NAME" val="抽象立体几何简约风"/>
</p:tagLst>
</file>

<file path=ppt/tags/tag85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2_4*a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DIAGRAM_GROUP_CODE" val="l1-1"/>
  <p:tag name="KSO_WM_UNIT_TEXT_FILL_FORE_SCHEMECOLOR_INDEX" val="16"/>
  <p:tag name="KSO_WM_UNIT_TEXT_FILL_TYPE" val="1"/>
  <p:tag name="KSO_WM_UNIT_USESOURCEFORMAT_APPLY" val="1"/>
</p:tagLst>
</file>

<file path=ppt/tags/tag8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292_4*l_h_i*1_1_1"/>
  <p:tag name="KSO_WM_TEMPLATE_CATEGORY" val="custom"/>
  <p:tag name="KSO_WM_TEMPLATE_INDEX" val="20230292"/>
  <p:tag name="KSO_WM_UNIT_LAYERLEVEL" val="1_1_1"/>
  <p:tag name="KSO_WM_TAG_VERSION" val="3.0"/>
  <p:tag name="KSO_WM_DIAGRAM_GROUP_CODE" val="l1-1"/>
  <p:tag name="KSO_WM_UNIT_TYPE" val="l_h_i"/>
  <p:tag name="KSO_WM_UNIT_INDEX" val="1_1_1"/>
  <p:tag name="KSO_WM_DIAGRAM_VERSION" val="3"/>
  <p:tag name="KSO_WM_DIAGRAM_MAX_ITEMCNT" val="6"/>
  <p:tag name="KSO_WM_DIAGRAM_MIN_ITEMCNT" val="2"/>
  <p:tag name="KSO_WM_DIAGRAM_VIRTUALLY_FRAME" val="{&quot;height&quot;:423.9267578125,&quot;left&quot;:88.06370239257812,&quot;top&quot;:-7.5643237881397685,&quot;width&quot;:909.7225952148438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6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2"/>
  <p:tag name="KSO_WM_DIAGRAM_COLOR_TEXT_CAN_REMOVE" val="n"/>
  <p:tag name="KSO_WM_UNIT_LINE_FORE_SCHEMECOLOR_INDEX" val="6"/>
  <p:tag name="KSO_WM_UNIT_LINE_FILL_TYPE" val="2"/>
  <p:tag name="KSO_WM_UNIT_USESOURCEFORMAT_APPLY" val="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2"/>
  <p:tag name="KSO_WM_UNIT_ID" val="custom20230292_4*l_h_i*1_1_2"/>
  <p:tag name="KSO_WM_TEMPLATE_CATEGORY" val="custom"/>
  <p:tag name="KSO_WM_TEMPLATE_INDEX" val="2023029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23.9267578125,&quot;left&quot;:88.06370239257812,&quot;top&quot;:-7.5643237881397685,&quot;width&quot;:909.722595214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1599999964237213,&quot;transparency&quot;:1},{&quot;brightness&quot;:0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2"/>
  <p:tag name="KSO_WM_DIAGRAM_COLOR_TEXT_CAN_REMOVE" val="n"/>
  <p:tag name="KSO_WM_UNIT_TEXT_FILL_FORE_SCHEMECOLOR_INDEX" val="6"/>
  <p:tag name="KSO_WM_UNIT_USESOURCEFORMAT_APPLY" val="1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custom"/>
  <p:tag name="KSO_WM_TEMPLATE_INDEX" val="20230292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92_4*l_h_f*1_1_1"/>
  <p:tag name="KSO_WM_DIAGRAM_VERSION" val="3"/>
  <p:tag name="KSO_WM_DIAGRAM_MAX_ITEMCNT" val="6"/>
  <p:tag name="KSO_WM_DIAGRAM_MIN_ITEMCNT" val="2"/>
  <p:tag name="KSO_WM_DIAGRAM_VIRTUALLY_FRAME" val="{&quot;height&quot;:423.9267578125,&quot;left&quot;:88.06370239257812,&quot;top&quot;:-7.5643237881397685,&quot;width&quot;:909.722595214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75,&quot;colorType&quot;:1,&quot;foreColorIndex&quot;:1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2"/>
  <p:tag name="KSO_WM_DIAGRAM_COLOR_TEXT_CAN_REMOVE" val="n"/>
  <p:tag name="KSO_WM_UNIT_SUBTYPE" val="a"/>
  <p:tag name="KSO_WM_UNIT_PRESET_TEXT" val="添加目录文本"/>
  <p:tag name="KSO_WM_UNIT_TEXT_TYPE" val="1"/>
  <p:tag name="KSO_WM_UNIT_TEXT_FILL_FORE_SCHEMECOLOR_INDEX" val="16"/>
  <p:tag name="KSO_WM_UNIT_TEXT_FILL_TYPE" val="1"/>
  <p:tag name="KSO_WM_UNIT_USESOURCEFORMAT_APPLY" val="1"/>
</p:tagLst>
</file>

<file path=ppt/tags/tag8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292_4*l_h_i*1_2_1"/>
  <p:tag name="KSO_WM_TEMPLATE_CATEGORY" val="custom"/>
  <p:tag name="KSO_WM_TEMPLATE_INDEX" val="20230292"/>
  <p:tag name="KSO_WM_UNIT_LAYERLEVEL" val="1_1_1"/>
  <p:tag name="KSO_WM_TAG_VERSION" val="3.0"/>
  <p:tag name="KSO_WM_DIAGRAM_GROUP_CODE" val="l1-1"/>
  <p:tag name="KSO_WM_UNIT_TYPE" val="l_h_i"/>
  <p:tag name="KSO_WM_UNIT_INDEX" val="1_2_1"/>
  <p:tag name="KSO_WM_DIAGRAM_VERSION" val="3"/>
  <p:tag name="KSO_WM_DIAGRAM_MAX_ITEMCNT" val="6"/>
  <p:tag name="KSO_WM_DIAGRAM_MIN_ITEMCNT" val="2"/>
  <p:tag name="KSO_WM_DIAGRAM_VIRTUALLY_FRAME" val="{&quot;height&quot;:423.9267578125,&quot;left&quot;:88.06370239257812,&quot;top&quot;:-7.5643237881397685,&quot;width&quot;:909.7225952148438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6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2"/>
  <p:tag name="KSO_WM_DIAGRAM_COLOR_TEXT_CAN_REMOVE" val="n"/>
  <p:tag name="KSO_WM_UNIT_LINE_FORE_SCHEMECOLOR_INDEX" val="6"/>
  <p:tag name="KSO_WM_UNIT_LINE_FILL_TYPE" val="2"/>
  <p:tag name="KSO_WM_UNIT_USESOURCEFORMAT_APPLY" val="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custom20230292_4*l_h_i*1_2_2"/>
  <p:tag name="KSO_WM_TEMPLATE_CATEGORY" val="custom"/>
  <p:tag name="KSO_WM_TEMPLATE_INDEX" val="2023029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23.9267578125,&quot;left&quot;:88.06370239257812,&quot;top&quot;:-7.5643237881397685,&quot;width&quot;:909.722595214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1599999964237213,&quot;transparency&quot;:1},{&quot;brightness&quot;:0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2"/>
  <p:tag name="KSO_WM_DIAGRAM_COLOR_TEXT_CAN_REMOVE" val="n"/>
  <p:tag name="KSO_WM_UNIT_TEXT_FILL_FORE_SCHEMECOLOR_INDEX" val="6"/>
  <p:tag name="KSO_WM_UNIT_USESOURCEFORMAT_APPLY" val="1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custom"/>
  <p:tag name="KSO_WM_TEMPLATE_INDEX" val="20230292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92_4*l_h_f*1_2_1"/>
  <p:tag name="KSO_WM_DIAGRAM_VERSION" val="3"/>
  <p:tag name="KSO_WM_DIAGRAM_MAX_ITEMCNT" val="6"/>
  <p:tag name="KSO_WM_DIAGRAM_MIN_ITEMCNT" val="2"/>
  <p:tag name="KSO_WM_DIAGRAM_VIRTUALLY_FRAME" val="{&quot;height&quot;:423.9267578125,&quot;left&quot;:88.06370239257812,&quot;top&quot;:-7.5643237881397685,&quot;width&quot;:909.722595214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75,&quot;colorType&quot;:1,&quot;foreColorIndex&quot;:1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2"/>
  <p:tag name="KSO_WM_DIAGRAM_COLOR_TEXT_CAN_REMOVE" val="n"/>
  <p:tag name="KSO_WM_UNIT_SUBTYPE" val="a"/>
  <p:tag name="KSO_WM_UNIT_PRESET_TEXT" val="添加目录文本"/>
  <p:tag name="KSO_WM_UNIT_TEXT_TYPE" val="1"/>
  <p:tag name="KSO_WM_UNIT_TEXT_FILL_FORE_SCHEMECOLOR_INDEX" val="16"/>
  <p:tag name="KSO_WM_UNIT_TEXT_FILL_TYPE" val="1"/>
  <p:tag name="KSO_WM_UNIT_USESOURCEFORMAT_APPLY" val="1"/>
</p:tagLst>
</file>

<file path=ppt/tags/tag9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292_4*l_h_i*1_3_1"/>
  <p:tag name="KSO_WM_TEMPLATE_CATEGORY" val="custom"/>
  <p:tag name="KSO_WM_TEMPLATE_INDEX" val="20230292"/>
  <p:tag name="KSO_WM_UNIT_LAYERLEVEL" val="1_1_1"/>
  <p:tag name="KSO_WM_TAG_VERSION" val="3.0"/>
  <p:tag name="KSO_WM_DIAGRAM_GROUP_CODE" val="l1-1"/>
  <p:tag name="KSO_WM_UNIT_TYPE" val="l_h_i"/>
  <p:tag name="KSO_WM_UNIT_INDEX" val="1_3_1"/>
  <p:tag name="KSO_WM_DIAGRAM_VERSION" val="3"/>
  <p:tag name="KSO_WM_DIAGRAM_MAX_ITEMCNT" val="6"/>
  <p:tag name="KSO_WM_DIAGRAM_MIN_ITEMCNT" val="2"/>
  <p:tag name="KSO_WM_DIAGRAM_VIRTUALLY_FRAME" val="{&quot;height&quot;:423.9267578125,&quot;left&quot;:88.06370239257812,&quot;top&quot;:-7.5643237881397685,&quot;width&quot;:909.7225952148438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6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2"/>
  <p:tag name="KSO_WM_DIAGRAM_COLOR_TEXT_CAN_REMOVE" val="n"/>
  <p:tag name="KSO_WM_UNIT_LINE_FORE_SCHEMECOLOR_INDEX" val="6"/>
  <p:tag name="KSO_WM_UNIT_LINE_FILL_TYPE" val="2"/>
  <p:tag name="KSO_WM_UNIT_USESOURCEFORMAT_APPLY" val="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custom20230292_4*l_h_i*1_3_2"/>
  <p:tag name="KSO_WM_TEMPLATE_CATEGORY" val="custom"/>
  <p:tag name="KSO_WM_TEMPLATE_INDEX" val="2023029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23.9267578125,&quot;left&quot;:88.06370239257812,&quot;top&quot;:-7.5643237881397685,&quot;width&quot;:909.722595214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1599999964237213,&quot;transparency&quot;:1},{&quot;brightness&quot;:0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2"/>
  <p:tag name="KSO_WM_DIAGRAM_COLOR_TEXT_CAN_REMOVE" val="n"/>
  <p:tag name="KSO_WM_UNIT_TEXT_FILL_FORE_SCHEMECOLOR_INDEX" val="6"/>
  <p:tag name="KSO_WM_UNIT_USESOURCEFORMAT_APPLY" val="1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custom"/>
  <p:tag name="KSO_WM_TEMPLATE_INDEX" val="20230292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92_4*l_h_f*1_3_1"/>
  <p:tag name="KSO_WM_DIAGRAM_VERSION" val="3"/>
  <p:tag name="KSO_WM_DIAGRAM_MAX_ITEMCNT" val="6"/>
  <p:tag name="KSO_WM_DIAGRAM_MIN_ITEMCNT" val="2"/>
  <p:tag name="KSO_WM_DIAGRAM_VIRTUALLY_FRAME" val="{&quot;height&quot;:423.9267578125,&quot;left&quot;:88.06370239257812,&quot;top&quot;:-7.5643237881397685,&quot;width&quot;:909.722595214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75,&quot;colorType&quot;:1,&quot;foreColorIndex&quot;:1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2"/>
  <p:tag name="KSO_WM_DIAGRAM_COLOR_TEXT_CAN_REMOVE" val="n"/>
  <p:tag name="KSO_WM_UNIT_SUBTYPE" val="a"/>
  <p:tag name="KSO_WM_UNIT_PRESET_TEXT" val="添加目录文本"/>
  <p:tag name="KSO_WM_UNIT_TEXT_TYPE" val="1"/>
  <p:tag name="KSO_WM_UNIT_TEXT_FILL_FORE_SCHEMECOLOR_INDEX" val="16"/>
  <p:tag name="KSO_WM_UNIT_TEXT_FILL_TYPE" val="1"/>
  <p:tag name="KSO_WM_UNIT_USESOURCEFORMAT_APPLY" val="1"/>
</p:tagLst>
</file>

<file path=ppt/tags/tag9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292_4*l_h_i*1_4_1"/>
  <p:tag name="KSO_WM_TEMPLATE_CATEGORY" val="custom"/>
  <p:tag name="KSO_WM_TEMPLATE_INDEX" val="20230292"/>
  <p:tag name="KSO_WM_UNIT_LAYERLEVEL" val="1_1_1"/>
  <p:tag name="KSO_WM_TAG_VERSION" val="3.0"/>
  <p:tag name="KSO_WM_DIAGRAM_GROUP_CODE" val="l1-1"/>
  <p:tag name="KSO_WM_UNIT_TYPE" val="l_h_i"/>
  <p:tag name="KSO_WM_UNIT_INDEX" val="1_4_1"/>
  <p:tag name="KSO_WM_DIAGRAM_VERSION" val="3"/>
  <p:tag name="KSO_WM_DIAGRAM_MAX_ITEMCNT" val="6"/>
  <p:tag name="KSO_WM_DIAGRAM_MIN_ITEMCNT" val="2"/>
  <p:tag name="KSO_WM_DIAGRAM_VIRTUALLY_FRAME" val="{&quot;height&quot;:423.9267578125,&quot;left&quot;:88.06370239257812,&quot;top&quot;:-7.5643237881397685,&quot;width&quot;:909.7225952148438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6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2"/>
  <p:tag name="KSO_WM_DIAGRAM_COLOR_TEXT_CAN_REMOVE" val="n"/>
  <p:tag name="KSO_WM_UNIT_LINE_FORE_SCHEMECOLOR_INDEX" val="6"/>
  <p:tag name="KSO_WM_UNIT_LINE_FILL_TYPE" val="2"/>
  <p:tag name="KSO_WM_UNIT_USESOURCEFORMAT_APPLY" val="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custom20230292_4*l_h_i*1_4_2"/>
  <p:tag name="KSO_WM_TEMPLATE_CATEGORY" val="custom"/>
  <p:tag name="KSO_WM_TEMPLATE_INDEX" val="2023029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23.9267578125,&quot;left&quot;:88.06370239257812,&quot;top&quot;:-7.5643237881397685,&quot;width&quot;:909.722595214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1599999964237213,&quot;transparency&quot;:1},{&quot;brightness&quot;:0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2"/>
  <p:tag name="KSO_WM_DIAGRAM_COLOR_TEXT_CAN_REMOVE" val="n"/>
  <p:tag name="KSO_WM_UNIT_TEXT_FILL_FORE_SCHEMECOLOR_INDEX" val="6"/>
  <p:tag name="KSO_WM_UNIT_USESOURCEFORMAT_APPLY" val="1"/>
</p:tagLst>
</file>

<file path=ppt/tags/tag9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4_1"/>
  <p:tag name="KSO_WM_TEMPLATE_CATEGORY" val="custom"/>
  <p:tag name="KSO_WM_TEMPLATE_INDEX" val="20230292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92_4*l_h_f*1_4_1"/>
  <p:tag name="KSO_WM_DIAGRAM_VERSION" val="3"/>
  <p:tag name="KSO_WM_DIAGRAM_MAX_ITEMCNT" val="6"/>
  <p:tag name="KSO_WM_DIAGRAM_MIN_ITEMCNT" val="2"/>
  <p:tag name="KSO_WM_DIAGRAM_VIRTUALLY_FRAME" val="{&quot;height&quot;:423.9267578125,&quot;left&quot;:88.06370239257812,&quot;top&quot;:-7.5643237881397685,&quot;width&quot;:909.722595214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75,&quot;colorType&quot;:1,&quot;foreColorIndex&quot;:1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2"/>
  <p:tag name="KSO_WM_DIAGRAM_COLOR_TEXT_CAN_REMOVE" val="n"/>
  <p:tag name="KSO_WM_UNIT_SUBTYPE" val="a"/>
  <p:tag name="KSO_WM_UNIT_PRESET_TEXT" val="添加目录文本"/>
  <p:tag name="KSO_WM_UNIT_TEXT_TYPE" val="1"/>
  <p:tag name="KSO_WM_UNIT_TEXT_FILL_FORE_SCHEMECOLOR_INDEX" val="16"/>
  <p:tag name="KSO_WM_UNIT_TEXT_FILL_TYPE" val="1"/>
  <p:tag name="KSO_WM_UNIT_USESOURCEFORMAT_APPLY" val="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0292_4*i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FILL_FORE_SCHEMECOLOR_INDEX" val="6"/>
  <p:tag name="KSO_WM_UNIT_FILL_TYPE" val="1"/>
  <p:tag name="KSO_WM_UNIT_TEXT_FILL_FORE_SCHEMECOLOR_INDEX" val="6"/>
  <p:tag name="KSO_WM_UNIT_TEXT_FILL_TYPE" val="1"/>
  <p:tag name="KSO_WM_UNIT_USESOURCEFORMAT_APPLY" val="1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SLIDE_ID" val="custom20230292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ags/tag100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92_7*e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</p:tagLst>
</file>

<file path=ppt/tags/tag10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2_7*a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  <p:tag name="KSO_WM_UNIT_PRESET_TEXT" val="单击添加章节标题"/>
  <p:tag name="KSO_WM_UNIT_TEXT_TYPE" val="1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SLIDE_ID" val="custom2023029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417.6&quot;,&quot;top&quot;:&quot;135.9&quot;,&quot;width&quot;:&quot;496.35&quot;,&quot;height&quot;:&quot;307.35&quot;}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</p:tagLst>
</file>

<file path=ppt/tags/tag104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92_7*e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</p:tagLst>
</file>

<file path=ppt/tags/tag10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2_7*a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  <p:tag name="KSO_WM_UNIT_PRESET_TEXT" val="单击添加章节标题"/>
  <p:tag name="KSO_WM_UNIT_TEXT_TYPE" val="1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SLIDE_ID" val="custom2023029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417.6&quot;,&quot;top&quot;:&quot;135.9&quot;,&quot;width&quot;:&quot;496.35&quot;,&quot;height&quot;:&quot;307.35&quot;}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</p:tagLst>
</file>

<file path=ppt/tags/tag108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92_7*e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</p:tagLst>
</file>

<file path=ppt/tags/tag10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2_7*a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  <p:tag name="KSO_WM_UNIT_PRESET_TEXT" val="单击添加章节标题"/>
  <p:tag name="KSO_WM_UNIT_TEXT_TYPE" val="1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SLIDE_ID" val="custom2023029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417.6&quot;,&quot;top&quot;:&quot;135.9&quot;,&quot;width&quot;:&quot;496.35&quot;,&quot;height&quot;:&quot;307.35&quot;}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</p:tagLst>
</file>

<file path=ppt/tags/tag114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92_7*e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30292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">
      <a:dk1>
        <a:srgbClr val="000000"/>
      </a:dk1>
      <a:lt1>
        <a:srgbClr val="FFFFFF"/>
      </a:lt1>
      <a:dk2>
        <a:srgbClr val="003964"/>
      </a:dk2>
      <a:lt2>
        <a:srgbClr val="E8F8FE"/>
      </a:lt2>
      <a:accent1>
        <a:srgbClr val="1DC0FD"/>
      </a:accent1>
      <a:accent2>
        <a:srgbClr val="015BFF"/>
      </a:accent2>
      <a:accent3>
        <a:srgbClr val="22CFD8"/>
      </a:accent3>
      <a:accent4>
        <a:srgbClr val="22B1C4"/>
      </a:accent4>
      <a:accent5>
        <a:srgbClr val="9485FF"/>
      </a:accent5>
      <a:accent6>
        <a:srgbClr val="6F5BFF"/>
      </a:accent6>
      <a:hlink>
        <a:srgbClr val="0563C1"/>
      </a:hlink>
      <a:folHlink>
        <a:srgbClr val="954D72"/>
      </a:folHlink>
    </a:clrScheme>
    <a:fontScheme name="自定义 73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1545</Words>
  <Application>WPS 演示</Application>
  <PresentationFormat>宽屏</PresentationFormat>
  <Paragraphs>96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宋体</vt:lpstr>
      <vt:lpstr>Wingdings</vt:lpstr>
      <vt:lpstr>MiSans Heavy</vt:lpstr>
      <vt:lpstr>Wingdings</vt:lpstr>
      <vt:lpstr>MiSans Normal</vt:lpstr>
      <vt:lpstr>微软雅黑</vt:lpstr>
      <vt:lpstr>Arial Unicode MS</vt:lpstr>
      <vt:lpstr>Calibri</vt:lpstr>
      <vt:lpstr>MiSans Heavy</vt:lpstr>
      <vt:lpstr>Segoe Print</vt:lpstr>
      <vt:lpstr>MiSans Normal</vt:lpstr>
      <vt:lpstr>WPS</vt:lpstr>
      <vt:lpstr>1_Office 主题</vt:lpstr>
      <vt:lpstr>深耕基础，稳筑思维</vt:lpstr>
      <vt:lpstr>目录</vt:lpstr>
      <vt:lpstr>本学期工作复盘</vt:lpstr>
      <vt:lpstr>本学期工作复盘</vt:lpstr>
      <vt:lpstr>初中数学学科核心学习要求</vt:lpstr>
      <vt:lpstr>初中数学学科核心学习要求</vt:lpstr>
      <vt:lpstr>本学期期末考试 学情分析</vt:lpstr>
      <vt:lpstr>本学期期末考试学情分析</vt:lpstr>
      <vt:lpstr>本学期存在问题</vt:lpstr>
      <vt:lpstr>初中数学学习建议</vt:lpstr>
      <vt:lpstr>暑假数学学习建议</vt:lpstr>
      <vt:lpstr>暑假数学学习建议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王畅</dc:creator>
  <cp:lastModifiedBy>WPS_1716177097</cp:lastModifiedBy>
  <cp:revision>7</cp:revision>
  <dcterms:created xsi:type="dcterms:W3CDTF">2023-08-09T12:44:00Z</dcterms:created>
  <dcterms:modified xsi:type="dcterms:W3CDTF">2026-07-20T02:29:58Z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219D59FFE8BB4B52A72BB45AF84D3718_12</vt:lpwstr>
  </property>
  <property fmtid="{D5CDD505-2E9C-101B-9397-08002B2CF9AE}" pid="3" name="KSOProductBuildVer">
    <vt:lpwstr>2052-12.1.0.26895</vt:lpwstr>
  </property>
</Properties>
</file>